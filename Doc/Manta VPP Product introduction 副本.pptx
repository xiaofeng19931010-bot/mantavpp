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notesSlides/notesSlide1.xml" Type="http://schemas.openxmlformats.org/officeDocument/2006/relationships/notesSlide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22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PTIST_MASTER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media/image3.pn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ustom Them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gif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467555" y="2421101"/>
            <a:ext cx="2508666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4800" spc="-18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 VPP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559828" y="5191242"/>
            <a:ext cx="2081967" cy="269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39009" y="5191242"/>
            <a:ext cx="2081967" cy="269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978845" y="3702636"/>
            <a:ext cx="2081967" cy="269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6776" y="3545780"/>
            <a:ext cx="8361076" cy="1285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7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Transforming Distributed Energy Resources into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2700">
                <a:solidFill>
                  <a:srgbClr val="00D4AA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Intelligent Trading Assets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-4236" r="-4236" t="0" b="0"/>
          <a:stretch>
            <a:fillRect/>
          </a:stretch>
        </p:blipFill>
        <p:spPr>
          <a:xfrm rot="0" flipH="false" flipV="false">
            <a:off x="529798" y="1283254"/>
            <a:ext cx="3779752" cy="230109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385763" y="1262063"/>
            <a:ext cx="5314950" cy="2809875"/>
          </a:xfrm>
          <a:custGeom>
            <a:avLst/>
            <a:gdLst/>
            <a:ahLst/>
            <a:cxnLst/>
            <a:rect r="r" b="b" t="t" l="l"/>
            <a:pathLst>
              <a:path h="2809875" w="5314950">
                <a:moveTo>
                  <a:pt x="114306" y="0"/>
                </a:moveTo>
                <a:lnTo>
                  <a:pt x="5200644" y="0"/>
                </a:lnTo>
                <a:cubicBezTo>
                  <a:pt x="5263774" y="0"/>
                  <a:pt x="5314950" y="51176"/>
                  <a:pt x="5314950" y="114306"/>
                </a:cubicBezTo>
                <a:lnTo>
                  <a:pt x="5314950" y="2695569"/>
                </a:lnTo>
                <a:cubicBezTo>
                  <a:pt x="5314950" y="2758699"/>
                  <a:pt x="5263774" y="2809875"/>
                  <a:pt x="5200644" y="2809875"/>
                </a:cubicBezTo>
                <a:lnTo>
                  <a:pt x="114306" y="2809875"/>
                </a:lnTo>
                <a:cubicBezTo>
                  <a:pt x="51176" y="2809875"/>
                  <a:pt x="0" y="2758699"/>
                  <a:pt x="0" y="2695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19125" y="1495425"/>
            <a:ext cx="494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Enterprise-Grade VPP SaaS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19125" y="1914525"/>
            <a:ext cx="4924425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Manta is an enterprise-grade Virtual Power Plant SaaS platform designed for </a:t>
            </a: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energy retailers and aggregators</a:t>
            </a: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.</a:t>
            </a:r>
            <a:r>
              <a:rPr lang="en-US" b="false" i="false" strike="noStrike" u="none" sz="12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 We transform the journey from "asset connectivity" to "scalable and sustainable revenue generation."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3888" y="3062288"/>
            <a:ext cx="4838700" cy="771525"/>
          </a:xfrm>
          <a:custGeom>
            <a:avLst/>
            <a:gdLst/>
            <a:ahLst/>
            <a:cxnLst/>
            <a:rect r="r" b="b" t="t" l="l"/>
            <a:pathLst>
              <a:path h="771525" w="4838700">
                <a:moveTo>
                  <a:pt x="76204" y="0"/>
                </a:moveTo>
                <a:lnTo>
                  <a:pt x="4762496" y="0"/>
                </a:lnTo>
                <a:cubicBezTo>
                  <a:pt x="4804583" y="0"/>
                  <a:pt x="4838700" y="34117"/>
                  <a:pt x="4838700" y="76204"/>
                </a:cubicBezTo>
                <a:lnTo>
                  <a:pt x="4838700" y="695321"/>
                </a:lnTo>
                <a:cubicBezTo>
                  <a:pt x="4838700" y="737408"/>
                  <a:pt x="4804583" y="771525"/>
                  <a:pt x="47624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81050" y="3062288"/>
            <a:ext cx="4600575" cy="77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"Engineered for trading excellence — where intelligence meets execution."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5763" y="4271963"/>
            <a:ext cx="5314950" cy="2200275"/>
          </a:xfrm>
          <a:custGeom>
            <a:avLst/>
            <a:gdLst/>
            <a:ahLst/>
            <a:cxnLst/>
            <a:rect r="r" b="b" t="t" l="l"/>
            <a:pathLst>
              <a:path h="2200275" w="5314950">
                <a:moveTo>
                  <a:pt x="114304" y="0"/>
                </a:moveTo>
                <a:lnTo>
                  <a:pt x="5200646" y="0"/>
                </a:lnTo>
                <a:cubicBezTo>
                  <a:pt x="5263774" y="0"/>
                  <a:pt x="5314950" y="51176"/>
                  <a:pt x="5314950" y="114304"/>
                </a:cubicBezTo>
                <a:lnTo>
                  <a:pt x="5314950" y="2085971"/>
                </a:lnTo>
                <a:cubicBezTo>
                  <a:pt x="5314950" y="2149099"/>
                  <a:pt x="5263774" y="2200275"/>
                  <a:pt x="5200646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9125" y="4505325"/>
            <a:ext cx="494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Target Customers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23888" y="4929188"/>
            <a:ext cx="1504950" cy="847725"/>
          </a:xfrm>
          <a:custGeom>
            <a:avLst/>
            <a:gdLst/>
            <a:ahLst/>
            <a:cxnLst/>
            <a:rect r="r" b="b" t="t" l="l"/>
            <a:pathLst>
              <a:path h="847725" w="1504950">
                <a:moveTo>
                  <a:pt x="76203" y="0"/>
                </a:moveTo>
                <a:lnTo>
                  <a:pt x="1428747" y="0"/>
                </a:lnTo>
                <a:cubicBezTo>
                  <a:pt x="1470805" y="0"/>
                  <a:pt x="1504950" y="34145"/>
                  <a:pt x="1504950" y="76203"/>
                </a:cubicBezTo>
                <a:lnTo>
                  <a:pt x="1504950" y="771522"/>
                </a:lnTo>
                <a:cubicBezTo>
                  <a:pt x="1504950" y="813580"/>
                  <a:pt x="1470805" y="847725"/>
                  <a:pt x="1428747" y="847725"/>
                </a:cubicBezTo>
                <a:lnTo>
                  <a:pt x="76203" y="847725"/>
                </a:lnTo>
                <a:cubicBezTo>
                  <a:pt x="34145" y="847725"/>
                  <a:pt x="0" y="813580"/>
                  <a:pt x="0" y="7715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1259653" y="5100638"/>
            <a:ext cx="233868" cy="200025"/>
          </a:xfrm>
          <a:custGeom>
            <a:avLst/>
            <a:gdLst/>
            <a:ahLst/>
            <a:cxnLst/>
            <a:rect r="r" b="b" t="t" l="l"/>
            <a:pathLst>
              <a:path h="200025" w="233868">
                <a:moveTo>
                  <a:pt x="16117" y="17993"/>
                </a:moveTo>
                <a:cubicBezTo>
                  <a:pt x="19198" y="7322"/>
                  <a:pt x="28976" y="0"/>
                  <a:pt x="40093" y="0"/>
                </a:cubicBezTo>
                <a:lnTo>
                  <a:pt x="193683" y="0"/>
                </a:lnTo>
                <a:cubicBezTo>
                  <a:pt x="204801" y="0"/>
                  <a:pt x="214579" y="7322"/>
                  <a:pt x="217705" y="17993"/>
                </a:cubicBezTo>
                <a:lnTo>
                  <a:pt x="228152" y="53801"/>
                </a:lnTo>
                <a:cubicBezTo>
                  <a:pt x="233867" y="73312"/>
                  <a:pt x="219177" y="92868"/>
                  <a:pt x="198862" y="92868"/>
                </a:cubicBezTo>
                <a:cubicBezTo>
                  <a:pt x="187121" y="92868"/>
                  <a:pt x="176806" y="86216"/>
                  <a:pt x="171718" y="76304"/>
                </a:cubicBezTo>
                <a:cubicBezTo>
                  <a:pt x="166538" y="86081"/>
                  <a:pt x="156269" y="92868"/>
                  <a:pt x="144303" y="92868"/>
                </a:cubicBezTo>
                <a:cubicBezTo>
                  <a:pt x="132426" y="92868"/>
                  <a:pt x="122113" y="86172"/>
                  <a:pt x="116934" y="76348"/>
                </a:cubicBezTo>
                <a:cubicBezTo>
                  <a:pt x="111754" y="86172"/>
                  <a:pt x="101440" y="92868"/>
                  <a:pt x="89564" y="92868"/>
                </a:cubicBezTo>
                <a:cubicBezTo>
                  <a:pt x="77598" y="92868"/>
                  <a:pt x="67329" y="86126"/>
                  <a:pt x="62150" y="76304"/>
                </a:cubicBezTo>
                <a:cubicBezTo>
                  <a:pt x="57059" y="86172"/>
                  <a:pt x="46746" y="92868"/>
                  <a:pt x="35003" y="92868"/>
                </a:cubicBezTo>
                <a:cubicBezTo>
                  <a:pt x="14644" y="92868"/>
                  <a:pt x="0" y="73357"/>
                  <a:pt x="5715" y="53801"/>
                </a:cubicBezTo>
                <a:lnTo>
                  <a:pt x="16117" y="17993"/>
                </a:lnTo>
                <a:close/>
                <a:moveTo>
                  <a:pt x="45452" y="142874"/>
                </a:moveTo>
                <a:lnTo>
                  <a:pt x="188327" y="142874"/>
                </a:lnTo>
                <a:lnTo>
                  <a:pt x="188327" y="113228"/>
                </a:lnTo>
                <a:cubicBezTo>
                  <a:pt x="191719" y="113943"/>
                  <a:pt x="195247" y="114300"/>
                  <a:pt x="198818" y="114300"/>
                </a:cubicBezTo>
                <a:cubicBezTo>
                  <a:pt x="205204" y="114300"/>
                  <a:pt x="211320" y="113139"/>
                  <a:pt x="216902" y="111085"/>
                </a:cubicBezTo>
                <a:lnTo>
                  <a:pt x="216902" y="178593"/>
                </a:lnTo>
                <a:cubicBezTo>
                  <a:pt x="216902" y="190425"/>
                  <a:pt x="207302" y="200024"/>
                  <a:pt x="195470" y="200024"/>
                </a:cubicBezTo>
                <a:lnTo>
                  <a:pt x="38307" y="200024"/>
                </a:lnTo>
                <a:cubicBezTo>
                  <a:pt x="26477" y="200024"/>
                  <a:pt x="16877" y="190425"/>
                  <a:pt x="16877" y="178593"/>
                </a:cubicBezTo>
                <a:lnTo>
                  <a:pt x="16877" y="111085"/>
                </a:lnTo>
                <a:cubicBezTo>
                  <a:pt x="22457" y="113139"/>
                  <a:pt x="28529" y="114300"/>
                  <a:pt x="34959" y="114300"/>
                </a:cubicBezTo>
                <a:cubicBezTo>
                  <a:pt x="38575" y="114300"/>
                  <a:pt x="42058" y="113943"/>
                  <a:pt x="45452" y="113228"/>
                </a:cubicBezTo>
                <a:lnTo>
                  <a:pt x="45452" y="142874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42950" y="5391150"/>
            <a:ext cx="12668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Energy Retailers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290763" y="4929188"/>
            <a:ext cx="1504950" cy="847725"/>
          </a:xfrm>
          <a:custGeom>
            <a:avLst/>
            <a:gdLst/>
            <a:ahLst/>
            <a:cxnLst/>
            <a:rect r="r" b="b" t="t" l="l"/>
            <a:pathLst>
              <a:path h="847725" w="1504950">
                <a:moveTo>
                  <a:pt x="76203" y="0"/>
                </a:moveTo>
                <a:lnTo>
                  <a:pt x="1428747" y="0"/>
                </a:lnTo>
                <a:cubicBezTo>
                  <a:pt x="1470805" y="0"/>
                  <a:pt x="1504950" y="34145"/>
                  <a:pt x="1504950" y="76203"/>
                </a:cubicBezTo>
                <a:lnTo>
                  <a:pt x="1504950" y="771522"/>
                </a:lnTo>
                <a:cubicBezTo>
                  <a:pt x="1504950" y="813580"/>
                  <a:pt x="1470805" y="847725"/>
                  <a:pt x="1428747" y="847725"/>
                </a:cubicBezTo>
                <a:lnTo>
                  <a:pt x="76203" y="847725"/>
                </a:lnTo>
                <a:cubicBezTo>
                  <a:pt x="34145" y="847725"/>
                  <a:pt x="0" y="813580"/>
                  <a:pt x="0" y="7715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2914650" y="5100638"/>
            <a:ext cx="257175" cy="200025"/>
          </a:xfrm>
          <a:custGeom>
            <a:avLst/>
            <a:gdLst/>
            <a:ahLst/>
            <a:cxnLst/>
            <a:rect r="r" b="b" t="t" l="l"/>
            <a:pathLst>
              <a:path h="200025" w="257175">
                <a:moveTo>
                  <a:pt x="110727" y="25003"/>
                </a:moveTo>
                <a:lnTo>
                  <a:pt x="146448" y="25003"/>
                </a:lnTo>
                <a:lnTo>
                  <a:pt x="146448" y="46435"/>
                </a:lnTo>
                <a:lnTo>
                  <a:pt x="110727" y="46435"/>
                </a:lnTo>
                <a:lnTo>
                  <a:pt x="110727" y="25003"/>
                </a:lnTo>
                <a:close/>
                <a:moveTo>
                  <a:pt x="107156" y="0"/>
                </a:moveTo>
                <a:cubicBezTo>
                  <a:pt x="95324" y="0"/>
                  <a:pt x="85725" y="9599"/>
                  <a:pt x="85725" y="21431"/>
                </a:cubicBezTo>
                <a:lnTo>
                  <a:pt x="85725" y="50006"/>
                </a:lnTo>
                <a:cubicBezTo>
                  <a:pt x="85725" y="61838"/>
                  <a:pt x="95324" y="71437"/>
                  <a:pt x="107156" y="71437"/>
                </a:cubicBezTo>
                <a:lnTo>
                  <a:pt x="114300" y="71437"/>
                </a:lnTo>
                <a:lnTo>
                  <a:pt x="114300" y="85724"/>
                </a:lnTo>
                <a:lnTo>
                  <a:pt x="14288" y="85724"/>
                </a:lnTo>
                <a:cubicBezTo>
                  <a:pt x="6386" y="85724"/>
                  <a:pt x="0" y="92109"/>
                  <a:pt x="0" y="100012"/>
                </a:cubicBezTo>
                <a:cubicBezTo>
                  <a:pt x="0" y="107915"/>
                  <a:pt x="6386" y="114300"/>
                  <a:pt x="14288" y="114300"/>
                </a:cubicBezTo>
                <a:lnTo>
                  <a:pt x="57150" y="114300"/>
                </a:lnTo>
                <a:lnTo>
                  <a:pt x="57150" y="128587"/>
                </a:lnTo>
                <a:lnTo>
                  <a:pt x="50006" y="128587"/>
                </a:lnTo>
                <a:cubicBezTo>
                  <a:pt x="38174" y="128587"/>
                  <a:pt x="28575" y="138186"/>
                  <a:pt x="28575" y="150018"/>
                </a:cubicBezTo>
                <a:lnTo>
                  <a:pt x="28575" y="178593"/>
                </a:lnTo>
                <a:cubicBezTo>
                  <a:pt x="28575" y="190425"/>
                  <a:pt x="38174" y="200024"/>
                  <a:pt x="50006" y="200024"/>
                </a:cubicBezTo>
                <a:lnTo>
                  <a:pt x="92869" y="200024"/>
                </a:lnTo>
                <a:cubicBezTo>
                  <a:pt x="104701" y="200024"/>
                  <a:pt x="114300" y="190425"/>
                  <a:pt x="114300" y="178593"/>
                </a:cubicBezTo>
                <a:lnTo>
                  <a:pt x="114300" y="150018"/>
                </a:lnTo>
                <a:cubicBezTo>
                  <a:pt x="114300" y="138186"/>
                  <a:pt x="104701" y="128587"/>
                  <a:pt x="92869" y="128587"/>
                </a:cubicBezTo>
                <a:lnTo>
                  <a:pt x="85725" y="128587"/>
                </a:lnTo>
                <a:lnTo>
                  <a:pt x="85725" y="114300"/>
                </a:lnTo>
                <a:lnTo>
                  <a:pt x="171450" y="114300"/>
                </a:lnTo>
                <a:lnTo>
                  <a:pt x="171450" y="128587"/>
                </a:lnTo>
                <a:lnTo>
                  <a:pt x="164306" y="128587"/>
                </a:lnTo>
                <a:cubicBezTo>
                  <a:pt x="152474" y="128587"/>
                  <a:pt x="142875" y="138186"/>
                  <a:pt x="142875" y="150018"/>
                </a:cubicBezTo>
                <a:lnTo>
                  <a:pt x="142875" y="178593"/>
                </a:lnTo>
                <a:cubicBezTo>
                  <a:pt x="142875" y="190425"/>
                  <a:pt x="152474" y="200024"/>
                  <a:pt x="164306" y="200024"/>
                </a:cubicBezTo>
                <a:lnTo>
                  <a:pt x="207169" y="200024"/>
                </a:lnTo>
                <a:cubicBezTo>
                  <a:pt x="219001" y="200024"/>
                  <a:pt x="228600" y="190425"/>
                  <a:pt x="228600" y="178593"/>
                </a:cubicBezTo>
                <a:lnTo>
                  <a:pt x="228600" y="150018"/>
                </a:lnTo>
                <a:cubicBezTo>
                  <a:pt x="228600" y="138186"/>
                  <a:pt x="219001" y="128587"/>
                  <a:pt x="207169" y="128587"/>
                </a:cubicBezTo>
                <a:lnTo>
                  <a:pt x="200025" y="128587"/>
                </a:lnTo>
                <a:lnTo>
                  <a:pt x="200025" y="114300"/>
                </a:lnTo>
                <a:lnTo>
                  <a:pt x="242888" y="114300"/>
                </a:lnTo>
                <a:cubicBezTo>
                  <a:pt x="250789" y="114300"/>
                  <a:pt x="257175" y="107915"/>
                  <a:pt x="257175" y="100012"/>
                </a:cubicBezTo>
                <a:cubicBezTo>
                  <a:pt x="257175" y="92109"/>
                  <a:pt x="250789" y="85724"/>
                  <a:pt x="242888" y="85724"/>
                </a:cubicBezTo>
                <a:lnTo>
                  <a:pt x="142875" y="85724"/>
                </a:lnTo>
                <a:lnTo>
                  <a:pt x="142875" y="71437"/>
                </a:lnTo>
                <a:lnTo>
                  <a:pt x="150019" y="71437"/>
                </a:lnTo>
                <a:cubicBezTo>
                  <a:pt x="161851" y="71437"/>
                  <a:pt x="171450" y="61838"/>
                  <a:pt x="171450" y="50006"/>
                </a:cubicBezTo>
                <a:lnTo>
                  <a:pt x="171450" y="21431"/>
                </a:lnTo>
                <a:cubicBezTo>
                  <a:pt x="171450" y="9599"/>
                  <a:pt x="161851" y="0"/>
                  <a:pt x="150019" y="0"/>
                </a:cubicBezTo>
                <a:lnTo>
                  <a:pt x="107156" y="0"/>
                </a:lnTo>
                <a:close/>
                <a:moveTo>
                  <a:pt x="200025" y="153589"/>
                </a:moveTo>
                <a:lnTo>
                  <a:pt x="203598" y="153589"/>
                </a:lnTo>
                <a:lnTo>
                  <a:pt x="203598" y="175021"/>
                </a:lnTo>
                <a:lnTo>
                  <a:pt x="167877" y="175021"/>
                </a:lnTo>
                <a:lnTo>
                  <a:pt x="167877" y="153589"/>
                </a:lnTo>
                <a:lnTo>
                  <a:pt x="200025" y="153589"/>
                </a:lnTo>
                <a:close/>
                <a:moveTo>
                  <a:pt x="85725" y="153589"/>
                </a:moveTo>
                <a:lnTo>
                  <a:pt x="89298" y="153589"/>
                </a:lnTo>
                <a:lnTo>
                  <a:pt x="89298" y="175021"/>
                </a:lnTo>
                <a:lnTo>
                  <a:pt x="53577" y="175021"/>
                </a:lnTo>
                <a:lnTo>
                  <a:pt x="53577" y="153589"/>
                </a:lnTo>
                <a:lnTo>
                  <a:pt x="85725" y="153589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409825" y="5391150"/>
            <a:ext cx="12668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Aggregators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957638" y="4929188"/>
            <a:ext cx="1504950" cy="847725"/>
          </a:xfrm>
          <a:custGeom>
            <a:avLst/>
            <a:gdLst/>
            <a:ahLst/>
            <a:cxnLst/>
            <a:rect r="r" b="b" t="t" l="l"/>
            <a:pathLst>
              <a:path h="847725" w="1504950">
                <a:moveTo>
                  <a:pt x="76203" y="0"/>
                </a:moveTo>
                <a:lnTo>
                  <a:pt x="1428747" y="0"/>
                </a:lnTo>
                <a:cubicBezTo>
                  <a:pt x="1470805" y="0"/>
                  <a:pt x="1504950" y="34145"/>
                  <a:pt x="1504950" y="76203"/>
                </a:cubicBezTo>
                <a:lnTo>
                  <a:pt x="1504950" y="771522"/>
                </a:lnTo>
                <a:cubicBezTo>
                  <a:pt x="1504950" y="813580"/>
                  <a:pt x="1470805" y="847725"/>
                  <a:pt x="1428747" y="847725"/>
                </a:cubicBezTo>
                <a:lnTo>
                  <a:pt x="76203" y="847725"/>
                </a:lnTo>
                <a:cubicBezTo>
                  <a:pt x="34145" y="847725"/>
                  <a:pt x="0" y="813580"/>
                  <a:pt x="0" y="7715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076700" y="5391150"/>
            <a:ext cx="12668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Grid Operators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4578354" y="5085309"/>
            <a:ext cx="277826" cy="254992"/>
          </a:xfrm>
          <a:custGeom>
            <a:avLst/>
            <a:gdLst/>
            <a:ahLst/>
            <a:cxnLst/>
            <a:rect r="r" b="b" t="t" l="l"/>
            <a:pathLst>
              <a:path h="254992" w="277826">
                <a:moveTo>
                  <a:pt x="130379" y="4067"/>
                </a:moveTo>
                <a:cubicBezTo>
                  <a:pt x="135263" y="0"/>
                  <a:pt x="142671" y="0"/>
                  <a:pt x="147555" y="4067"/>
                </a:cubicBezTo>
                <a:lnTo>
                  <a:pt x="272084" y="107255"/>
                </a:lnTo>
                <a:cubicBezTo>
                  <a:pt x="277397" y="111620"/>
                  <a:pt x="277826" y="119161"/>
                  <a:pt x="273049" y="124072"/>
                </a:cubicBezTo>
                <a:cubicBezTo>
                  <a:pt x="268272" y="128985"/>
                  <a:pt x="260167" y="129380"/>
                  <a:pt x="254853" y="124965"/>
                </a:cubicBezTo>
                <a:lnTo>
                  <a:pt x="250560" y="121393"/>
                </a:lnTo>
                <a:lnTo>
                  <a:pt x="250560" y="223241"/>
                </a:lnTo>
                <a:cubicBezTo>
                  <a:pt x="250560" y="240753"/>
                  <a:pt x="235154" y="254991"/>
                  <a:pt x="216206" y="254991"/>
                </a:cubicBezTo>
                <a:lnTo>
                  <a:pt x="61620" y="254991"/>
                </a:lnTo>
                <a:cubicBezTo>
                  <a:pt x="42673" y="254991"/>
                  <a:pt x="27268" y="240753"/>
                  <a:pt x="27268" y="223241"/>
                </a:cubicBezTo>
                <a:lnTo>
                  <a:pt x="27268" y="121393"/>
                </a:lnTo>
                <a:lnTo>
                  <a:pt x="22974" y="124965"/>
                </a:lnTo>
                <a:cubicBezTo>
                  <a:pt x="17661" y="129331"/>
                  <a:pt x="9555" y="128934"/>
                  <a:pt x="4778" y="124072"/>
                </a:cubicBezTo>
                <a:cubicBezTo>
                  <a:pt x="0" y="119211"/>
                  <a:pt x="483" y="111669"/>
                  <a:pt x="5744" y="107255"/>
                </a:cubicBezTo>
                <a:lnTo>
                  <a:pt x="130379" y="4067"/>
                </a:lnTo>
                <a:close/>
                <a:moveTo>
                  <a:pt x="138967" y="28921"/>
                </a:moveTo>
                <a:lnTo>
                  <a:pt x="53086" y="100111"/>
                </a:lnTo>
                <a:lnTo>
                  <a:pt x="53086" y="223291"/>
                </a:lnTo>
                <a:cubicBezTo>
                  <a:pt x="53086" y="227657"/>
                  <a:pt x="56951" y="231229"/>
                  <a:pt x="61674" y="231229"/>
                </a:cubicBezTo>
                <a:lnTo>
                  <a:pt x="87438" y="231229"/>
                </a:lnTo>
                <a:lnTo>
                  <a:pt x="87438" y="179635"/>
                </a:lnTo>
                <a:cubicBezTo>
                  <a:pt x="87438" y="159890"/>
                  <a:pt x="104722" y="143916"/>
                  <a:pt x="126086" y="143916"/>
                </a:cubicBezTo>
                <a:lnTo>
                  <a:pt x="151849" y="143916"/>
                </a:lnTo>
                <a:cubicBezTo>
                  <a:pt x="173211" y="143916"/>
                  <a:pt x="190496" y="159890"/>
                  <a:pt x="190496" y="179635"/>
                </a:cubicBezTo>
                <a:lnTo>
                  <a:pt x="190496" y="231229"/>
                </a:lnTo>
                <a:lnTo>
                  <a:pt x="216259" y="231229"/>
                </a:lnTo>
                <a:cubicBezTo>
                  <a:pt x="220983" y="231229"/>
                  <a:pt x="224848" y="227657"/>
                  <a:pt x="224848" y="223291"/>
                </a:cubicBezTo>
                <a:lnTo>
                  <a:pt x="224848" y="100111"/>
                </a:lnTo>
                <a:lnTo>
                  <a:pt x="138967" y="28971"/>
                </a:lnTo>
                <a:close/>
                <a:moveTo>
                  <a:pt x="113201" y="231229"/>
                </a:moveTo>
                <a:lnTo>
                  <a:pt x="164730" y="231229"/>
                </a:lnTo>
                <a:lnTo>
                  <a:pt x="164730" y="179635"/>
                </a:lnTo>
                <a:cubicBezTo>
                  <a:pt x="164730" y="173037"/>
                  <a:pt x="158987" y="167729"/>
                  <a:pt x="151849" y="167729"/>
                </a:cubicBezTo>
                <a:lnTo>
                  <a:pt x="126086" y="167729"/>
                </a:lnTo>
                <a:cubicBezTo>
                  <a:pt x="118946" y="167729"/>
                  <a:pt x="113201" y="173037"/>
                  <a:pt x="113201" y="179635"/>
                </a:cubicBezTo>
                <a:lnTo>
                  <a:pt x="113201" y="231229"/>
                </a:lnTo>
                <a:close/>
              </a:path>
            </a:pathLst>
          </a:custGeom>
          <a:solidFill>
            <a:srgbClr val="0078EE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096000" y="1262063"/>
            <a:ext cx="5610225" cy="5210175"/>
          </a:xfrm>
          <a:custGeom>
            <a:avLst/>
            <a:gdLst/>
            <a:ahLst/>
            <a:cxnLst/>
            <a:rect r="r" b="b" t="t" l="l"/>
            <a:pathLst>
              <a:path h="5210175" w="5610225">
                <a:moveTo>
                  <a:pt x="114308" y="0"/>
                </a:moveTo>
                <a:lnTo>
                  <a:pt x="5495917" y="0"/>
                </a:lnTo>
                <a:cubicBezTo>
                  <a:pt x="5559048" y="0"/>
                  <a:pt x="5610225" y="107256"/>
                  <a:pt x="5610225" y="239564"/>
                </a:cubicBezTo>
                <a:lnTo>
                  <a:pt x="5610225" y="4970611"/>
                </a:lnTo>
                <a:cubicBezTo>
                  <a:pt x="5610225" y="5102919"/>
                  <a:pt x="5559048" y="5210175"/>
                  <a:pt x="5495917" y="5210175"/>
                </a:cubicBezTo>
                <a:lnTo>
                  <a:pt x="114308" y="5210175"/>
                </a:lnTo>
                <a:cubicBezTo>
                  <a:pt x="51177" y="5210175"/>
                  <a:pt x="0" y="5102919"/>
                  <a:pt x="0" y="4970611"/>
                </a:cubicBezTo>
                <a:lnTo>
                  <a:pt x="0" y="239564"/>
                </a:lnTo>
                <a:cubicBezTo>
                  <a:pt x="0" y="107344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07385" y="1521619"/>
            <a:ext cx="205904" cy="196118"/>
          </a:xfrm>
          <a:custGeom>
            <a:avLst/>
            <a:gdLst/>
            <a:ahLst/>
            <a:cxnLst/>
            <a:rect r="r" b="b" t="t" l="l"/>
            <a:pathLst>
              <a:path h="196118" w="205904">
                <a:moveTo>
                  <a:pt x="110952" y="4874"/>
                </a:moveTo>
                <a:cubicBezTo>
                  <a:pt x="109425" y="1897"/>
                  <a:pt x="106338" y="0"/>
                  <a:pt x="102989" y="0"/>
                </a:cubicBezTo>
                <a:cubicBezTo>
                  <a:pt x="99641" y="0"/>
                  <a:pt x="96553" y="1897"/>
                  <a:pt x="95027" y="4874"/>
                </a:cubicBezTo>
                <a:lnTo>
                  <a:pt x="67642" y="58526"/>
                </a:lnTo>
                <a:lnTo>
                  <a:pt x="8149" y="67977"/>
                </a:lnTo>
                <a:cubicBezTo>
                  <a:pt x="4837" y="68498"/>
                  <a:pt x="2084" y="70842"/>
                  <a:pt x="1042" y="74042"/>
                </a:cubicBezTo>
                <a:cubicBezTo>
                  <a:pt x="0" y="77242"/>
                  <a:pt x="856" y="80739"/>
                  <a:pt x="3200" y="83120"/>
                </a:cubicBezTo>
                <a:lnTo>
                  <a:pt x="45765" y="125722"/>
                </a:lnTo>
                <a:lnTo>
                  <a:pt x="36389" y="185217"/>
                </a:lnTo>
                <a:cubicBezTo>
                  <a:pt x="35868" y="188527"/>
                  <a:pt x="37245" y="191876"/>
                  <a:pt x="39962" y="193847"/>
                </a:cubicBezTo>
                <a:cubicBezTo>
                  <a:pt x="42677" y="195820"/>
                  <a:pt x="46249" y="196118"/>
                  <a:pt x="49263" y="194593"/>
                </a:cubicBezTo>
                <a:lnTo>
                  <a:pt x="102989" y="167283"/>
                </a:lnTo>
                <a:lnTo>
                  <a:pt x="156680" y="194593"/>
                </a:lnTo>
                <a:cubicBezTo>
                  <a:pt x="159656" y="196118"/>
                  <a:pt x="163265" y="195820"/>
                  <a:pt x="165981" y="193847"/>
                </a:cubicBezTo>
                <a:cubicBezTo>
                  <a:pt x="168698" y="191876"/>
                  <a:pt x="170074" y="188566"/>
                  <a:pt x="169554" y="185217"/>
                </a:cubicBezTo>
                <a:lnTo>
                  <a:pt x="160139" y="125722"/>
                </a:lnTo>
                <a:lnTo>
                  <a:pt x="202704" y="83120"/>
                </a:lnTo>
                <a:cubicBezTo>
                  <a:pt x="205086" y="80739"/>
                  <a:pt x="205904" y="77242"/>
                  <a:pt x="204862" y="74042"/>
                </a:cubicBezTo>
                <a:cubicBezTo>
                  <a:pt x="203821" y="70842"/>
                  <a:pt x="201104" y="68498"/>
                  <a:pt x="197756" y="67977"/>
                </a:cubicBezTo>
                <a:lnTo>
                  <a:pt x="138299" y="58526"/>
                </a:lnTo>
                <a:lnTo>
                  <a:pt x="110952" y="4874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29400" y="14954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Key Differentiators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403181" y="2447925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487983" y="2541866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822281" y="2409825"/>
            <a:ext cx="3228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Trading-First Architecture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822281" y="2638425"/>
            <a:ext cx="4190686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Every component optimized for financial performance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415087" y="3595688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499889" y="3689629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834187" y="3557588"/>
            <a:ext cx="4014646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AI at the Core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834187" y="3824288"/>
            <a:ext cx="4014646" cy="200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E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nables third-party algorithm integration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415087" y="4812846"/>
            <a:ext cx="304800" cy="279679"/>
          </a:xfrm>
          <a:custGeom>
            <a:avLst/>
            <a:gdLst/>
            <a:ahLst/>
            <a:cxnLst/>
            <a:rect r="r" b="b" t="t" l="l"/>
            <a:pathLst>
              <a:path h="279679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1330"/>
                  <a:pt x="304800" y="69920"/>
                </a:cubicBezTo>
                <a:lnTo>
                  <a:pt x="304800" y="209760"/>
                </a:lnTo>
                <a:cubicBezTo>
                  <a:pt x="304800" y="248350"/>
                  <a:pt x="270656" y="279680"/>
                  <a:pt x="228600" y="279680"/>
                </a:cubicBezTo>
                <a:lnTo>
                  <a:pt x="76200" y="279680"/>
                </a:lnTo>
                <a:cubicBezTo>
                  <a:pt x="34144" y="279680"/>
                  <a:pt x="0" y="248350"/>
                  <a:pt x="0" y="209760"/>
                </a:cubicBezTo>
                <a:lnTo>
                  <a:pt x="0" y="69920"/>
                </a:lnTo>
                <a:cubicBezTo>
                  <a:pt x="0" y="31330"/>
                  <a:pt x="34144" y="0"/>
                  <a:pt x="76200" y="0"/>
                </a:cubicBezTo>
                <a:close/>
              </a:path>
            </a:pathLst>
          </a:custGeom>
          <a:solidFill>
            <a:srgbClr val="00D4AA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lIns="91440" rIns="1016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499889" y="4890012"/>
            <a:ext cx="135553" cy="102960"/>
          </a:xfrm>
          <a:custGeom>
            <a:avLst/>
            <a:gdLst/>
            <a:ahLst/>
            <a:cxnLst/>
            <a:rect r="r" b="b" t="t" l="l"/>
            <a:pathLst>
              <a:path h="102960" w="135553">
                <a:moveTo>
                  <a:pt x="130344" y="2567"/>
                </a:moveTo>
                <a:cubicBezTo>
                  <a:pt x="134599" y="5110"/>
                  <a:pt x="135553" y="9999"/>
                  <a:pt x="132457" y="13496"/>
                </a:cubicBezTo>
                <a:lnTo>
                  <a:pt x="56257" y="99561"/>
                </a:lnTo>
                <a:cubicBezTo>
                  <a:pt x="54620" y="101419"/>
                  <a:pt x="52090" y="102569"/>
                  <a:pt x="49292" y="102764"/>
                </a:cubicBezTo>
                <a:cubicBezTo>
                  <a:pt x="46494" y="102960"/>
                  <a:pt x="43786" y="102105"/>
                  <a:pt x="41821" y="100491"/>
                </a:cubicBezTo>
                <a:lnTo>
                  <a:pt x="3721" y="69194"/>
                </a:lnTo>
                <a:cubicBezTo>
                  <a:pt x="0" y="66138"/>
                  <a:pt x="0" y="61174"/>
                  <a:pt x="3721" y="58118"/>
                </a:cubicBezTo>
                <a:cubicBezTo>
                  <a:pt x="7442" y="55062"/>
                  <a:pt x="13485" y="55062"/>
                  <a:pt x="17204" y="58118"/>
                </a:cubicBezTo>
                <a:lnTo>
                  <a:pt x="47416" y="82935"/>
                </a:lnTo>
                <a:lnTo>
                  <a:pt x="117068" y="4278"/>
                </a:lnTo>
                <a:cubicBezTo>
                  <a:pt x="120165" y="782"/>
                  <a:pt x="126117" y="0"/>
                  <a:pt x="130374" y="2542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834187" y="4781550"/>
            <a:ext cx="2495550" cy="1877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Multi-Market Mastery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834187" y="4987646"/>
            <a:ext cx="3398507" cy="2796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Spot, FCAS, Capacity — unified platform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89821" y="580970"/>
            <a:ext cx="1422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81000" y="64770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Overview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64770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Functional Architecture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22220" t="22222" b="0"/>
          <a:stretch>
            <a:fillRect/>
          </a:stretch>
        </p:blipFill>
        <p:spPr>
          <a:xfrm rot="0" flipH="false" flipV="false">
            <a:off x="2065950" y="1021069"/>
            <a:ext cx="7782804" cy="5836931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64770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Core Capabilities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5763" y="12620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81025" y="14573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95444" y="1571565"/>
            <a:ext cx="161538" cy="152460"/>
          </a:xfrm>
          <a:custGeom>
            <a:avLst/>
            <a:gdLst/>
            <a:ahLst/>
            <a:cxnLst/>
            <a:rect r="r" b="b" t="t" l="l"/>
            <a:pathLst>
              <a:path h="152460" w="161538">
                <a:moveTo>
                  <a:pt x="142875" y="71497"/>
                </a:moveTo>
                <a:lnTo>
                  <a:pt x="90488" y="71497"/>
                </a:lnTo>
                <a:cubicBezTo>
                  <a:pt x="85219" y="71497"/>
                  <a:pt x="80963" y="67240"/>
                  <a:pt x="80963" y="61973"/>
                </a:cubicBezTo>
                <a:lnTo>
                  <a:pt x="80963" y="9585"/>
                </a:lnTo>
                <a:cubicBezTo>
                  <a:pt x="80963" y="4316"/>
                  <a:pt x="85249" y="0"/>
                  <a:pt x="90457" y="685"/>
                </a:cubicBezTo>
                <a:cubicBezTo>
                  <a:pt x="122306" y="4911"/>
                  <a:pt x="147548" y="30153"/>
                  <a:pt x="151776" y="62002"/>
                </a:cubicBezTo>
                <a:cubicBezTo>
                  <a:pt x="152460" y="67211"/>
                  <a:pt x="148145" y="71497"/>
                  <a:pt x="142875" y="71497"/>
                </a:cubicBezTo>
                <a:close/>
                <a:moveTo>
                  <a:pt x="56614" y="11133"/>
                </a:moveTo>
                <a:cubicBezTo>
                  <a:pt x="62002" y="10002"/>
                  <a:pt x="66675" y="14407"/>
                  <a:pt x="66675" y="19914"/>
                </a:cubicBezTo>
                <a:lnTo>
                  <a:pt x="66675" y="78641"/>
                </a:lnTo>
                <a:cubicBezTo>
                  <a:pt x="66675" y="80307"/>
                  <a:pt x="67270" y="81915"/>
                  <a:pt x="68312" y="83195"/>
                </a:cubicBezTo>
                <a:lnTo>
                  <a:pt x="107633" y="130641"/>
                </a:lnTo>
                <a:cubicBezTo>
                  <a:pt x="111115" y="134839"/>
                  <a:pt x="110371" y="141179"/>
                  <a:pt x="105579" y="143768"/>
                </a:cubicBezTo>
                <a:cubicBezTo>
                  <a:pt x="95429" y="149305"/>
                  <a:pt x="83790" y="152460"/>
                  <a:pt x="71438" y="152460"/>
                </a:cubicBezTo>
                <a:cubicBezTo>
                  <a:pt x="31998" y="152460"/>
                  <a:pt x="0" y="120462"/>
                  <a:pt x="0" y="81023"/>
                </a:cubicBezTo>
                <a:cubicBezTo>
                  <a:pt x="0" y="46644"/>
                  <a:pt x="24259" y="17949"/>
                  <a:pt x="56614" y="11133"/>
                </a:cubicBezTo>
                <a:close/>
                <a:moveTo>
                  <a:pt x="132576" y="85785"/>
                </a:moveTo>
                <a:lnTo>
                  <a:pt x="151626" y="85785"/>
                </a:lnTo>
                <a:cubicBezTo>
                  <a:pt x="157132" y="85785"/>
                  <a:pt x="161538" y="90459"/>
                  <a:pt x="160406" y="95846"/>
                </a:cubicBezTo>
                <a:cubicBezTo>
                  <a:pt x="157371" y="110252"/>
                  <a:pt x="149989" y="123052"/>
                  <a:pt x="139690" y="132814"/>
                </a:cubicBezTo>
                <a:cubicBezTo>
                  <a:pt x="136029" y="136297"/>
                  <a:pt x="130285" y="135552"/>
                  <a:pt x="127070" y="131654"/>
                </a:cubicBezTo>
                <a:lnTo>
                  <a:pt x="101947" y="101382"/>
                </a:lnTo>
                <a:cubicBezTo>
                  <a:pt x="96799" y="95161"/>
                  <a:pt x="101233" y="85785"/>
                  <a:pt x="109270" y="85785"/>
                </a:cubicBezTo>
                <a:lnTo>
                  <a:pt x="132546" y="85785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6325" y="1514475"/>
            <a:ext cx="8382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Overview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1025" y="1952625"/>
            <a:ext cx="33718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Visual asset operations dashboard with real-time metrics.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1025" y="24479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Instant Revenue Pulse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246513" y="12620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441775" y="14573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4546550" y="1581150"/>
            <a:ext cx="171450" cy="133350"/>
          </a:xfrm>
          <a:custGeom>
            <a:avLst/>
            <a:gdLst/>
            <a:ahLst/>
            <a:cxnLst/>
            <a:rect r="r" b="b" t="t" l="l"/>
            <a:pathLst>
              <a:path h="133350" w="171450">
                <a:moveTo>
                  <a:pt x="73819" y="16669"/>
                </a:moveTo>
                <a:lnTo>
                  <a:pt x="97631" y="16669"/>
                </a:lnTo>
                <a:lnTo>
                  <a:pt x="97631" y="30956"/>
                </a:lnTo>
                <a:lnTo>
                  <a:pt x="73819" y="30956"/>
                </a:lnTo>
                <a:lnTo>
                  <a:pt x="73819" y="16669"/>
                </a:lnTo>
                <a:close/>
                <a:moveTo>
                  <a:pt x="71438" y="0"/>
                </a:moveTo>
                <a:cubicBezTo>
                  <a:pt x="63550" y="0"/>
                  <a:pt x="57150" y="6400"/>
                  <a:pt x="57150" y="14288"/>
                </a:cubicBezTo>
                <a:lnTo>
                  <a:pt x="57150" y="33338"/>
                </a:lnTo>
                <a:cubicBezTo>
                  <a:pt x="57150" y="41225"/>
                  <a:pt x="63550" y="47625"/>
                  <a:pt x="71438" y="47625"/>
                </a:cubicBezTo>
                <a:lnTo>
                  <a:pt x="76200" y="47625"/>
                </a:lnTo>
                <a:lnTo>
                  <a:pt x="76200" y="57150"/>
                </a:lnTo>
                <a:lnTo>
                  <a:pt x="9525" y="57150"/>
                </a:lnTo>
                <a:cubicBezTo>
                  <a:pt x="4256" y="57150"/>
                  <a:pt x="0" y="61406"/>
                  <a:pt x="0" y="66675"/>
                </a:cubicBezTo>
                <a:cubicBezTo>
                  <a:pt x="0" y="71944"/>
                  <a:pt x="4256" y="76200"/>
                  <a:pt x="9525" y="76200"/>
                </a:cubicBezTo>
                <a:lnTo>
                  <a:pt x="38100" y="76200"/>
                </a:lnTo>
                <a:lnTo>
                  <a:pt x="38100" y="85725"/>
                </a:lnTo>
                <a:lnTo>
                  <a:pt x="33338" y="85725"/>
                </a:lnTo>
                <a:cubicBezTo>
                  <a:pt x="25450" y="85725"/>
                  <a:pt x="19050" y="92125"/>
                  <a:pt x="19050" y="100012"/>
                </a:cubicBezTo>
                <a:lnTo>
                  <a:pt x="19050" y="119062"/>
                </a:lnTo>
                <a:cubicBezTo>
                  <a:pt x="19050" y="126950"/>
                  <a:pt x="25450" y="133350"/>
                  <a:pt x="33338" y="133350"/>
                </a:cubicBezTo>
                <a:lnTo>
                  <a:pt x="61912" y="133350"/>
                </a:lnTo>
                <a:cubicBezTo>
                  <a:pt x="69800" y="133350"/>
                  <a:pt x="76200" y="126950"/>
                  <a:pt x="76200" y="119062"/>
                </a:cubicBezTo>
                <a:lnTo>
                  <a:pt x="76200" y="100012"/>
                </a:lnTo>
                <a:cubicBezTo>
                  <a:pt x="76200" y="92125"/>
                  <a:pt x="69800" y="85725"/>
                  <a:pt x="61912" y="85725"/>
                </a:cubicBezTo>
                <a:lnTo>
                  <a:pt x="57150" y="85725"/>
                </a:lnTo>
                <a:lnTo>
                  <a:pt x="57150" y="76200"/>
                </a:lnTo>
                <a:lnTo>
                  <a:pt x="114300" y="76200"/>
                </a:lnTo>
                <a:lnTo>
                  <a:pt x="114300" y="85725"/>
                </a:lnTo>
                <a:lnTo>
                  <a:pt x="109538" y="85725"/>
                </a:lnTo>
                <a:cubicBezTo>
                  <a:pt x="101650" y="85725"/>
                  <a:pt x="95250" y="92125"/>
                  <a:pt x="95250" y="100012"/>
                </a:cubicBezTo>
                <a:lnTo>
                  <a:pt x="95250" y="119062"/>
                </a:lnTo>
                <a:cubicBezTo>
                  <a:pt x="95250" y="126950"/>
                  <a:pt x="101650" y="133350"/>
                  <a:pt x="109538" y="133350"/>
                </a:cubicBezTo>
                <a:lnTo>
                  <a:pt x="138112" y="133350"/>
                </a:lnTo>
                <a:cubicBezTo>
                  <a:pt x="146000" y="133350"/>
                  <a:pt x="152400" y="126950"/>
                  <a:pt x="152400" y="119062"/>
                </a:cubicBezTo>
                <a:lnTo>
                  <a:pt x="152400" y="100012"/>
                </a:lnTo>
                <a:cubicBezTo>
                  <a:pt x="152400" y="92125"/>
                  <a:pt x="146000" y="85725"/>
                  <a:pt x="138112" y="85725"/>
                </a:cubicBezTo>
                <a:lnTo>
                  <a:pt x="133350" y="85725"/>
                </a:lnTo>
                <a:lnTo>
                  <a:pt x="133350" y="76200"/>
                </a:lnTo>
                <a:lnTo>
                  <a:pt x="161925" y="76200"/>
                </a:lnTo>
                <a:cubicBezTo>
                  <a:pt x="167194" y="76200"/>
                  <a:pt x="171450" y="71944"/>
                  <a:pt x="171450" y="66675"/>
                </a:cubicBezTo>
                <a:cubicBezTo>
                  <a:pt x="171450" y="61406"/>
                  <a:pt x="167194" y="57150"/>
                  <a:pt x="161925" y="57150"/>
                </a:cubicBezTo>
                <a:lnTo>
                  <a:pt x="95250" y="57150"/>
                </a:lnTo>
                <a:lnTo>
                  <a:pt x="95250" y="47625"/>
                </a:lnTo>
                <a:lnTo>
                  <a:pt x="100012" y="47625"/>
                </a:lnTo>
                <a:cubicBezTo>
                  <a:pt x="107900" y="47625"/>
                  <a:pt x="114300" y="41225"/>
                  <a:pt x="114300" y="33338"/>
                </a:cubicBezTo>
                <a:lnTo>
                  <a:pt x="114300" y="14288"/>
                </a:lnTo>
                <a:cubicBezTo>
                  <a:pt x="114300" y="6400"/>
                  <a:pt x="107900" y="0"/>
                  <a:pt x="100012" y="0"/>
                </a:cubicBezTo>
                <a:lnTo>
                  <a:pt x="71438" y="0"/>
                </a:lnTo>
                <a:close/>
                <a:moveTo>
                  <a:pt x="133350" y="102394"/>
                </a:moveTo>
                <a:lnTo>
                  <a:pt x="135731" y="102394"/>
                </a:lnTo>
                <a:lnTo>
                  <a:pt x="135731" y="116681"/>
                </a:lnTo>
                <a:lnTo>
                  <a:pt x="111919" y="116681"/>
                </a:lnTo>
                <a:lnTo>
                  <a:pt x="111919" y="102394"/>
                </a:lnTo>
                <a:lnTo>
                  <a:pt x="133350" y="102394"/>
                </a:lnTo>
                <a:close/>
                <a:moveTo>
                  <a:pt x="57150" y="102394"/>
                </a:moveTo>
                <a:lnTo>
                  <a:pt x="59531" y="102394"/>
                </a:lnTo>
                <a:lnTo>
                  <a:pt x="59531" y="116681"/>
                </a:lnTo>
                <a:lnTo>
                  <a:pt x="35719" y="116681"/>
                </a:lnTo>
                <a:lnTo>
                  <a:pt x="35719" y="102394"/>
                </a:lnTo>
                <a:lnTo>
                  <a:pt x="57150" y="102394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37075" y="1514475"/>
            <a:ext cx="1850666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VPP Management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1775" y="19526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Rapid equipment grouping into virtual power plants.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1775" y="22574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Operational Agility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8107263" y="12620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8302526" y="14573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8425547" y="1566118"/>
            <a:ext cx="134958" cy="163413"/>
          </a:xfrm>
          <a:custGeom>
            <a:avLst/>
            <a:gdLst/>
            <a:ahLst/>
            <a:cxnLst/>
            <a:rect r="r" b="b" t="t" l="l"/>
            <a:pathLst>
              <a:path h="163413" w="134958">
                <a:moveTo>
                  <a:pt x="101650" y="2561"/>
                </a:moveTo>
                <a:cubicBezTo>
                  <a:pt x="105192" y="5120"/>
                  <a:pt x="106502" y="9763"/>
                  <a:pt x="104894" y="13812"/>
                </a:cubicBezTo>
                <a:lnTo>
                  <a:pt x="81558" y="72182"/>
                </a:lnTo>
                <a:lnTo>
                  <a:pt x="124629" y="72182"/>
                </a:lnTo>
                <a:cubicBezTo>
                  <a:pt x="128647" y="72182"/>
                  <a:pt x="132219" y="74683"/>
                  <a:pt x="133588" y="78463"/>
                </a:cubicBezTo>
                <a:cubicBezTo>
                  <a:pt x="134958" y="82243"/>
                  <a:pt x="133797" y="86470"/>
                  <a:pt x="130731" y="89029"/>
                </a:cubicBezTo>
                <a:lnTo>
                  <a:pt x="45006" y="160467"/>
                </a:lnTo>
                <a:cubicBezTo>
                  <a:pt x="41642" y="163265"/>
                  <a:pt x="36850" y="163414"/>
                  <a:pt x="33308" y="160853"/>
                </a:cubicBezTo>
                <a:cubicBezTo>
                  <a:pt x="29766" y="158294"/>
                  <a:pt x="28456" y="153651"/>
                  <a:pt x="30064" y="149602"/>
                </a:cubicBezTo>
                <a:lnTo>
                  <a:pt x="53400" y="91232"/>
                </a:lnTo>
                <a:lnTo>
                  <a:pt x="10329" y="91232"/>
                </a:lnTo>
                <a:cubicBezTo>
                  <a:pt x="6311" y="91232"/>
                  <a:pt x="2739" y="88731"/>
                  <a:pt x="1370" y="84951"/>
                </a:cubicBezTo>
                <a:cubicBezTo>
                  <a:pt x="0" y="81171"/>
                  <a:pt x="1161" y="76944"/>
                  <a:pt x="4227" y="74385"/>
                </a:cubicBezTo>
                <a:lnTo>
                  <a:pt x="89952" y="2947"/>
                </a:lnTo>
                <a:cubicBezTo>
                  <a:pt x="93316" y="149"/>
                  <a:pt x="98108" y="0"/>
                  <a:pt x="101650" y="2561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797826" y="1514475"/>
            <a:ext cx="1066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Spot Market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02526" y="1952625"/>
            <a:ext cx="33718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Real-time trends, forecasts &amp; intelligent arbitrage signals.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02526" y="24479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Profit Maximization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385763" y="30527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581025" y="32480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700088" y="3362325"/>
            <a:ext cx="142935" cy="152163"/>
          </a:xfrm>
          <a:custGeom>
            <a:avLst/>
            <a:gdLst/>
            <a:ahLst/>
            <a:cxnLst/>
            <a:rect r="r" b="b" t="t" l="l"/>
            <a:pathLst>
              <a:path h="152163" w="142935">
                <a:moveTo>
                  <a:pt x="71437" y="0"/>
                </a:moveTo>
                <a:cubicBezTo>
                  <a:pt x="72806" y="0"/>
                  <a:pt x="74175" y="298"/>
                  <a:pt x="75426" y="864"/>
                </a:cubicBezTo>
                <a:lnTo>
                  <a:pt x="131504" y="24646"/>
                </a:lnTo>
                <a:cubicBezTo>
                  <a:pt x="138052" y="27414"/>
                  <a:pt x="142934" y="33873"/>
                  <a:pt x="142904" y="41673"/>
                </a:cubicBezTo>
                <a:cubicBezTo>
                  <a:pt x="142755" y="71199"/>
                  <a:pt x="130611" y="125225"/>
                  <a:pt x="79325" y="149781"/>
                </a:cubicBezTo>
                <a:cubicBezTo>
                  <a:pt x="74354" y="152163"/>
                  <a:pt x="68580" y="152163"/>
                  <a:pt x="63609" y="149781"/>
                </a:cubicBezTo>
                <a:cubicBezTo>
                  <a:pt x="12293" y="125225"/>
                  <a:pt x="179" y="71199"/>
                  <a:pt x="29" y="41673"/>
                </a:cubicBezTo>
                <a:cubicBezTo>
                  <a:pt x="0" y="33873"/>
                  <a:pt x="4881" y="27414"/>
                  <a:pt x="11430" y="24646"/>
                </a:cubicBezTo>
                <a:lnTo>
                  <a:pt x="67478" y="864"/>
                </a:lnTo>
                <a:cubicBezTo>
                  <a:pt x="68728" y="298"/>
                  <a:pt x="70068" y="0"/>
                  <a:pt x="71437" y="0"/>
                </a:cubicBezTo>
                <a:close/>
                <a:moveTo>
                  <a:pt x="71437" y="19883"/>
                </a:moveTo>
                <a:lnTo>
                  <a:pt x="71437" y="132427"/>
                </a:lnTo>
                <a:cubicBezTo>
                  <a:pt x="112514" y="112544"/>
                  <a:pt x="123557" y="68491"/>
                  <a:pt x="123824" y="42118"/>
                </a:cubicBezTo>
                <a:lnTo>
                  <a:pt x="71437" y="19914"/>
                </a:lnTo>
                <a:lnTo>
                  <a:pt x="71437" y="19914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76325" y="3305175"/>
            <a:ext cx="1338262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Smart Feed-in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81025" y="37433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Dynamic export rules &amp; negative price protection.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81025" y="40481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Risk Control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4246513" y="30527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4441775" y="32480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4546550" y="3381375"/>
            <a:ext cx="180975" cy="114300"/>
          </a:xfrm>
          <a:custGeom>
            <a:avLst/>
            <a:gdLst/>
            <a:ahLst/>
            <a:cxnLst/>
            <a:rect r="r" b="b" t="t" l="l"/>
            <a:pathLst>
              <a:path h="114300" w="180975">
                <a:moveTo>
                  <a:pt x="147638" y="19050"/>
                </a:moveTo>
                <a:cubicBezTo>
                  <a:pt x="150258" y="19050"/>
                  <a:pt x="152400" y="21192"/>
                  <a:pt x="152400" y="23813"/>
                </a:cubicBezTo>
                <a:lnTo>
                  <a:pt x="152400" y="90487"/>
                </a:lnTo>
                <a:cubicBezTo>
                  <a:pt x="152400" y="93108"/>
                  <a:pt x="150258" y="95250"/>
                  <a:pt x="147638" y="95250"/>
                </a:cubicBezTo>
                <a:lnTo>
                  <a:pt x="23812" y="95250"/>
                </a:lnTo>
                <a:cubicBezTo>
                  <a:pt x="21192" y="95250"/>
                  <a:pt x="19050" y="93108"/>
                  <a:pt x="19050" y="90487"/>
                </a:cubicBezTo>
                <a:lnTo>
                  <a:pt x="19050" y="23813"/>
                </a:lnTo>
                <a:cubicBezTo>
                  <a:pt x="19050" y="21192"/>
                  <a:pt x="21192" y="19050"/>
                  <a:pt x="23812" y="19050"/>
                </a:cubicBezTo>
                <a:lnTo>
                  <a:pt x="147638" y="19050"/>
                </a:lnTo>
                <a:close/>
                <a:moveTo>
                  <a:pt x="23812" y="0"/>
                </a:moveTo>
                <a:cubicBezTo>
                  <a:pt x="10657" y="0"/>
                  <a:pt x="0" y="10657"/>
                  <a:pt x="0" y="23813"/>
                </a:cubicBezTo>
                <a:lnTo>
                  <a:pt x="0" y="90487"/>
                </a:lnTo>
                <a:cubicBezTo>
                  <a:pt x="0" y="103643"/>
                  <a:pt x="10657" y="114300"/>
                  <a:pt x="23812" y="114300"/>
                </a:cubicBezTo>
                <a:lnTo>
                  <a:pt x="147638" y="114300"/>
                </a:lnTo>
                <a:cubicBezTo>
                  <a:pt x="160793" y="114300"/>
                  <a:pt x="171450" y="103643"/>
                  <a:pt x="171450" y="90487"/>
                </a:cubicBezTo>
                <a:lnTo>
                  <a:pt x="171450" y="76200"/>
                </a:lnTo>
                <a:cubicBezTo>
                  <a:pt x="176719" y="76200"/>
                  <a:pt x="180975" y="71944"/>
                  <a:pt x="180975" y="66675"/>
                </a:cubicBezTo>
                <a:lnTo>
                  <a:pt x="180975" y="47625"/>
                </a:lnTo>
                <a:cubicBezTo>
                  <a:pt x="180975" y="42356"/>
                  <a:pt x="176719" y="38100"/>
                  <a:pt x="171450" y="38100"/>
                </a:cubicBezTo>
                <a:lnTo>
                  <a:pt x="171450" y="23813"/>
                </a:lnTo>
                <a:cubicBezTo>
                  <a:pt x="171450" y="10657"/>
                  <a:pt x="160793" y="0"/>
                  <a:pt x="147638" y="0"/>
                </a:cubicBezTo>
                <a:lnTo>
                  <a:pt x="23812" y="0"/>
                </a:lnTo>
                <a:close/>
                <a:moveTo>
                  <a:pt x="40481" y="33337"/>
                </a:moveTo>
                <a:cubicBezTo>
                  <a:pt x="36521" y="33337"/>
                  <a:pt x="33338" y="36521"/>
                  <a:pt x="33338" y="40481"/>
                </a:cubicBezTo>
                <a:lnTo>
                  <a:pt x="33338" y="73819"/>
                </a:lnTo>
                <a:cubicBezTo>
                  <a:pt x="33338" y="77779"/>
                  <a:pt x="36521" y="80963"/>
                  <a:pt x="40481" y="80963"/>
                </a:cubicBezTo>
                <a:lnTo>
                  <a:pt x="130969" y="80963"/>
                </a:lnTo>
                <a:cubicBezTo>
                  <a:pt x="134929" y="80963"/>
                  <a:pt x="138112" y="77779"/>
                  <a:pt x="138112" y="73819"/>
                </a:cubicBezTo>
                <a:lnTo>
                  <a:pt x="138112" y="40481"/>
                </a:lnTo>
                <a:cubicBezTo>
                  <a:pt x="138112" y="36521"/>
                  <a:pt x="134929" y="33337"/>
                  <a:pt x="130969" y="33337"/>
                </a:cubicBezTo>
                <a:lnTo>
                  <a:pt x="40481" y="33337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937075" y="3305175"/>
            <a:ext cx="1047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Cap Service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441775" y="37433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Capacity charts and peak shaving/valley filling.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441775" y="40481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Demand Charge Reduction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8107263" y="30527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8302526" y="32480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8416826" y="3381375"/>
            <a:ext cx="152400" cy="114300"/>
          </a:xfrm>
          <a:custGeom>
            <a:avLst/>
            <a:gdLst/>
            <a:ahLst/>
            <a:cxnLst/>
            <a:rect r="r" b="b" t="t" l="l"/>
            <a:pathLst>
              <a:path h="114300" w="152400">
                <a:moveTo>
                  <a:pt x="19050" y="9525"/>
                </a:moveTo>
                <a:cubicBezTo>
                  <a:pt x="19050" y="4256"/>
                  <a:pt x="23306" y="0"/>
                  <a:pt x="28575" y="0"/>
                </a:cubicBezTo>
                <a:lnTo>
                  <a:pt x="76200" y="0"/>
                </a:lnTo>
                <a:cubicBezTo>
                  <a:pt x="81469" y="0"/>
                  <a:pt x="85725" y="4256"/>
                  <a:pt x="85725" y="9525"/>
                </a:cubicBezTo>
                <a:lnTo>
                  <a:pt x="85725" y="95250"/>
                </a:lnTo>
                <a:lnTo>
                  <a:pt x="114300" y="95250"/>
                </a:lnTo>
                <a:lnTo>
                  <a:pt x="114300" y="57150"/>
                </a:lnTo>
                <a:cubicBezTo>
                  <a:pt x="114300" y="51881"/>
                  <a:pt x="118556" y="47625"/>
                  <a:pt x="123825" y="47625"/>
                </a:cubicBezTo>
                <a:lnTo>
                  <a:pt x="142875" y="47625"/>
                </a:lnTo>
                <a:cubicBezTo>
                  <a:pt x="148144" y="47625"/>
                  <a:pt x="152400" y="51881"/>
                  <a:pt x="152400" y="57150"/>
                </a:cubicBezTo>
                <a:cubicBezTo>
                  <a:pt x="152400" y="62419"/>
                  <a:pt x="148144" y="66675"/>
                  <a:pt x="142875" y="66675"/>
                </a:cubicBezTo>
                <a:lnTo>
                  <a:pt x="133350" y="66675"/>
                </a:lnTo>
                <a:lnTo>
                  <a:pt x="133350" y="104775"/>
                </a:lnTo>
                <a:cubicBezTo>
                  <a:pt x="133350" y="110044"/>
                  <a:pt x="129094" y="114300"/>
                  <a:pt x="123825" y="114300"/>
                </a:cubicBezTo>
                <a:lnTo>
                  <a:pt x="76200" y="114300"/>
                </a:lnTo>
                <a:cubicBezTo>
                  <a:pt x="70931" y="114300"/>
                  <a:pt x="66675" y="110044"/>
                  <a:pt x="66675" y="104775"/>
                </a:cubicBezTo>
                <a:lnTo>
                  <a:pt x="66675" y="19050"/>
                </a:lnTo>
                <a:lnTo>
                  <a:pt x="38100" y="19050"/>
                </a:lnTo>
                <a:lnTo>
                  <a:pt x="38100" y="57150"/>
                </a:lnTo>
                <a:cubicBezTo>
                  <a:pt x="38100" y="62419"/>
                  <a:pt x="33844" y="66675"/>
                  <a:pt x="28575" y="66675"/>
                </a:cubicBezTo>
                <a:lnTo>
                  <a:pt x="9525" y="66675"/>
                </a:lnTo>
                <a:cubicBezTo>
                  <a:pt x="4256" y="66675"/>
                  <a:pt x="0" y="62419"/>
                  <a:pt x="0" y="57150"/>
                </a:cubicBezTo>
                <a:cubicBezTo>
                  <a:pt x="0" y="51881"/>
                  <a:pt x="4256" y="47625"/>
                  <a:pt x="9525" y="47625"/>
                </a:cubicBezTo>
                <a:lnTo>
                  <a:pt x="19050" y="47625"/>
                </a:lnTo>
                <a:lnTo>
                  <a:pt x="19050" y="9525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797826" y="3305175"/>
            <a:ext cx="5334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FCAS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02526" y="3743325"/>
            <a:ext cx="33718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Visual ancillary service bidding &amp; status management.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02526" y="42386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Revenue Diversification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385763" y="48434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581025" y="50387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1" id="41"/>
          <p:cNvSpPr/>
          <p:nvPr/>
        </p:nvSpPr>
        <p:spPr>
          <a:xfrm rot="0" flipH="false" flipV="false">
            <a:off x="714375" y="5153025"/>
            <a:ext cx="114300" cy="152400"/>
          </a:xfrm>
          <a:custGeom>
            <a:avLst/>
            <a:gdLst/>
            <a:ahLst/>
            <a:cxnLst/>
            <a:rect r="r" b="b" t="t" l="l"/>
            <a:pathLst>
              <a:path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9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3" y="17413"/>
                </a:moveTo>
                <a:lnTo>
                  <a:pt x="61913" y="45244"/>
                </a:lnTo>
                <a:cubicBezTo>
                  <a:pt x="61913" y="49204"/>
                  <a:pt x="65096" y="52387"/>
                  <a:pt x="69056" y="52387"/>
                </a:cubicBezTo>
                <a:lnTo>
                  <a:pt x="96887" y="52387"/>
                </a:lnTo>
                <a:lnTo>
                  <a:pt x="61913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4"/>
                  <a:pt x="31760" y="90487"/>
                  <a:pt x="35719" y="90487"/>
                </a:cubicBezTo>
                <a:lnTo>
                  <a:pt x="78581" y="90487"/>
                </a:lnTo>
                <a:cubicBezTo>
                  <a:pt x="82540" y="90487"/>
                  <a:pt x="85725" y="87304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9"/>
                  <a:pt x="31760" y="119063"/>
                  <a:pt x="35719" y="119063"/>
                </a:cubicBezTo>
                <a:lnTo>
                  <a:pt x="78581" y="119063"/>
                </a:lnTo>
                <a:cubicBezTo>
                  <a:pt x="82540" y="119063"/>
                  <a:pt x="85725" y="115879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76325" y="5095875"/>
            <a:ext cx="714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Reports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581025" y="55340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Settlement-grade reports with customizable fields.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581025" y="58388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Financial Audit</a:t>
            </a:r>
            <a:endParaRPr lang="en-US" sz="1100"/>
          </a:p>
        </p:txBody>
      </p:sp>
      <p:sp>
        <p:nvSpPr>
          <p:cNvPr name="Freeform 45" id="45"/>
          <p:cNvSpPr/>
          <p:nvPr/>
        </p:nvSpPr>
        <p:spPr>
          <a:xfrm rot="0" flipH="false" flipV="false">
            <a:off x="4246513" y="48434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6" id="46"/>
          <p:cNvSpPr/>
          <p:nvPr/>
        </p:nvSpPr>
        <p:spPr>
          <a:xfrm rot="0" flipH="false" flipV="false">
            <a:off x="4441775" y="50387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7" id="47"/>
          <p:cNvSpPr/>
          <p:nvPr/>
        </p:nvSpPr>
        <p:spPr>
          <a:xfrm rot="0" flipH="false" flipV="false">
            <a:off x="4565600" y="5143500"/>
            <a:ext cx="133350" cy="161925"/>
          </a:xfrm>
          <a:custGeom>
            <a:avLst/>
            <a:gdLst/>
            <a:ahLst/>
            <a:cxnLst/>
            <a:rect r="r" b="b" t="t" l="l"/>
            <a:pathLst>
              <a:path h="161925" w="13335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38100"/>
                </a:lnTo>
                <a:lnTo>
                  <a:pt x="85725" y="3810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38100"/>
                </a:lnTo>
                <a:lnTo>
                  <a:pt x="123825" y="38100"/>
                </a:lnTo>
                <a:cubicBezTo>
                  <a:pt x="129094" y="38100"/>
                  <a:pt x="133350" y="42356"/>
                  <a:pt x="133350" y="47625"/>
                </a:cubicBezTo>
                <a:cubicBezTo>
                  <a:pt x="133350" y="52894"/>
                  <a:pt x="129094" y="57150"/>
                  <a:pt x="123825" y="57150"/>
                </a:cubicBezTo>
                <a:lnTo>
                  <a:pt x="123825" y="76200"/>
                </a:lnTo>
                <a:cubicBezTo>
                  <a:pt x="123825" y="104507"/>
                  <a:pt x="103227" y="128022"/>
                  <a:pt x="76200" y="132546"/>
                </a:cubicBezTo>
                <a:lnTo>
                  <a:pt x="76200" y="152400"/>
                </a:lnTo>
                <a:cubicBezTo>
                  <a:pt x="76200" y="157669"/>
                  <a:pt x="71944" y="161925"/>
                  <a:pt x="66675" y="161925"/>
                </a:cubicBezTo>
                <a:cubicBezTo>
                  <a:pt x="61406" y="161925"/>
                  <a:pt x="57150" y="157669"/>
                  <a:pt x="57150" y="152400"/>
                </a:cubicBezTo>
                <a:lnTo>
                  <a:pt x="57150" y="132546"/>
                </a:lnTo>
                <a:cubicBezTo>
                  <a:pt x="30123" y="128022"/>
                  <a:pt x="9525" y="104507"/>
                  <a:pt x="9525" y="76200"/>
                </a:cubicBezTo>
                <a:lnTo>
                  <a:pt x="9525" y="57150"/>
                </a:lnTo>
                <a:cubicBezTo>
                  <a:pt x="4256" y="57150"/>
                  <a:pt x="0" y="52894"/>
                  <a:pt x="0" y="47625"/>
                </a:cubicBezTo>
                <a:cubicBezTo>
                  <a:pt x="0" y="42356"/>
                  <a:pt x="4256" y="38100"/>
                  <a:pt x="9525" y="38100"/>
                </a:cubicBezTo>
                <a:lnTo>
                  <a:pt x="28575" y="3810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4937075" y="5095875"/>
            <a:ext cx="103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Onboarding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4441775" y="55340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Rapid DER access &amp; manufacturer integration.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4441775" y="58388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Efficiency Enhancement</a:t>
            </a:r>
            <a:endParaRPr lang="en-US" sz="1100"/>
          </a:p>
        </p:txBody>
      </p:sp>
      <p:sp>
        <p:nvSpPr>
          <p:cNvPr name="Freeform 51" id="51"/>
          <p:cNvSpPr/>
          <p:nvPr/>
        </p:nvSpPr>
        <p:spPr>
          <a:xfrm rot="0" flipH="false" flipV="false">
            <a:off x="8107263" y="4843463"/>
            <a:ext cx="3695700" cy="1628775"/>
          </a:xfrm>
          <a:custGeom>
            <a:avLst/>
            <a:gdLst/>
            <a:ahLst/>
            <a:cxnLst/>
            <a:rect r="r" b="b" t="t" l="l"/>
            <a:pathLst>
              <a:path h="162877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1514467"/>
                </a:lnTo>
                <a:cubicBezTo>
                  <a:pt x="3695700" y="1577598"/>
                  <a:pt x="3644523" y="1628775"/>
                  <a:pt x="3581392" y="1628775"/>
                </a:cubicBezTo>
                <a:lnTo>
                  <a:pt x="114308" y="1628775"/>
                </a:lnTo>
                <a:cubicBezTo>
                  <a:pt x="51177" y="1628775"/>
                  <a:pt x="0" y="1577598"/>
                  <a:pt x="0" y="15144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2" id="52"/>
          <p:cNvSpPr/>
          <p:nvPr/>
        </p:nvSpPr>
        <p:spPr>
          <a:xfrm rot="0" flipH="false" flipV="false">
            <a:off x="8302526" y="5038725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3" id="53"/>
          <p:cNvSpPr/>
          <p:nvPr/>
        </p:nvSpPr>
        <p:spPr>
          <a:xfrm rot="0" flipH="false" flipV="false">
            <a:off x="8419207" y="5153025"/>
            <a:ext cx="147638" cy="152400"/>
          </a:xfrm>
          <a:custGeom>
            <a:avLst/>
            <a:gdLst/>
            <a:ahLst/>
            <a:cxnLst/>
            <a:rect r="r" b="b" t="t" l="l"/>
            <a:pathLst>
              <a:path h="152400" w="147638">
                <a:moveTo>
                  <a:pt x="33338" y="16669"/>
                </a:moveTo>
                <a:cubicBezTo>
                  <a:pt x="33338" y="7471"/>
                  <a:pt x="40809" y="0"/>
                  <a:pt x="50007" y="0"/>
                </a:cubicBezTo>
                <a:lnTo>
                  <a:pt x="57150" y="0"/>
                </a:lnTo>
                <a:cubicBezTo>
                  <a:pt x="62419" y="0"/>
                  <a:pt x="66675" y="4256"/>
                  <a:pt x="66675" y="9525"/>
                </a:cubicBezTo>
                <a:lnTo>
                  <a:pt x="66675" y="142875"/>
                </a:lnTo>
                <a:cubicBezTo>
                  <a:pt x="66675" y="148144"/>
                  <a:pt x="62419" y="152400"/>
                  <a:pt x="57150" y="152400"/>
                </a:cubicBezTo>
                <a:lnTo>
                  <a:pt x="47625" y="152400"/>
                </a:lnTo>
                <a:cubicBezTo>
                  <a:pt x="38756" y="152400"/>
                  <a:pt x="31284" y="146328"/>
                  <a:pt x="29171" y="138113"/>
                </a:cubicBezTo>
                <a:cubicBezTo>
                  <a:pt x="28963" y="138113"/>
                  <a:pt x="28784" y="138113"/>
                  <a:pt x="28575" y="138113"/>
                </a:cubicBezTo>
                <a:cubicBezTo>
                  <a:pt x="15419" y="138113"/>
                  <a:pt x="4763" y="127456"/>
                  <a:pt x="4763" y="114300"/>
                </a:cubicBezTo>
                <a:cubicBezTo>
                  <a:pt x="4763" y="108942"/>
                  <a:pt x="6548" y="104002"/>
                  <a:pt x="9525" y="100013"/>
                </a:cubicBezTo>
                <a:cubicBezTo>
                  <a:pt x="3751" y="95667"/>
                  <a:pt x="0" y="88762"/>
                  <a:pt x="0" y="80963"/>
                </a:cubicBezTo>
                <a:cubicBezTo>
                  <a:pt x="0" y="71765"/>
                  <a:pt x="5239" y="63758"/>
                  <a:pt x="12859" y="59799"/>
                </a:cubicBezTo>
                <a:cubicBezTo>
                  <a:pt x="10746" y="56227"/>
                  <a:pt x="9525" y="52060"/>
                  <a:pt x="9525" y="47625"/>
                </a:cubicBezTo>
                <a:cubicBezTo>
                  <a:pt x="9525" y="34469"/>
                  <a:pt x="20181" y="23813"/>
                  <a:pt x="33338" y="23813"/>
                </a:cubicBezTo>
                <a:lnTo>
                  <a:pt x="33338" y="16669"/>
                </a:lnTo>
                <a:close/>
                <a:moveTo>
                  <a:pt x="114300" y="16669"/>
                </a:moveTo>
                <a:lnTo>
                  <a:pt x="114300" y="23813"/>
                </a:lnTo>
                <a:cubicBezTo>
                  <a:pt x="127457" y="23813"/>
                  <a:pt x="138113" y="34469"/>
                  <a:pt x="138113" y="47625"/>
                </a:cubicBezTo>
                <a:cubicBezTo>
                  <a:pt x="138113" y="52090"/>
                  <a:pt x="136892" y="56257"/>
                  <a:pt x="134779" y="59799"/>
                </a:cubicBezTo>
                <a:cubicBezTo>
                  <a:pt x="142429" y="63758"/>
                  <a:pt x="147638" y="71735"/>
                  <a:pt x="147638" y="80963"/>
                </a:cubicBezTo>
                <a:cubicBezTo>
                  <a:pt x="147638" y="88762"/>
                  <a:pt x="143887" y="95667"/>
                  <a:pt x="138113" y="100013"/>
                </a:cubicBezTo>
                <a:cubicBezTo>
                  <a:pt x="141090" y="104002"/>
                  <a:pt x="142875" y="108942"/>
                  <a:pt x="142875" y="114300"/>
                </a:cubicBezTo>
                <a:cubicBezTo>
                  <a:pt x="142875" y="127456"/>
                  <a:pt x="132219" y="138113"/>
                  <a:pt x="119063" y="138113"/>
                </a:cubicBezTo>
                <a:cubicBezTo>
                  <a:pt x="118854" y="138113"/>
                  <a:pt x="118675" y="138113"/>
                  <a:pt x="118467" y="138113"/>
                </a:cubicBezTo>
                <a:cubicBezTo>
                  <a:pt x="116354" y="146328"/>
                  <a:pt x="108882" y="152400"/>
                  <a:pt x="100013" y="152400"/>
                </a:cubicBezTo>
                <a:lnTo>
                  <a:pt x="90488" y="152400"/>
                </a:lnTo>
                <a:cubicBezTo>
                  <a:pt x="85219" y="152400"/>
                  <a:pt x="80963" y="148144"/>
                  <a:pt x="80963" y="142875"/>
                </a:cubicBezTo>
                <a:lnTo>
                  <a:pt x="80963" y="9525"/>
                </a:lnTo>
                <a:cubicBezTo>
                  <a:pt x="80963" y="4256"/>
                  <a:pt x="85219" y="0"/>
                  <a:pt x="90488" y="0"/>
                </a:cubicBezTo>
                <a:lnTo>
                  <a:pt x="97631" y="0"/>
                </a:lnTo>
                <a:cubicBezTo>
                  <a:pt x="106829" y="0"/>
                  <a:pt x="114300" y="7471"/>
                  <a:pt x="114300" y="16669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8797826" y="5095875"/>
            <a:ext cx="1381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Strategy Market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8302526" y="5534025"/>
            <a:ext cx="3500437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Sans"/>
                <a:ea typeface="MiSans"/>
                <a:cs typeface="MiSans"/>
                <a:sym typeface="MiSans"/>
              </a:rPr>
              <a:t>Algorithm backtesting, listing &amp; real-time yield ranking.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8302526" y="6029325"/>
            <a:ext cx="33718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New Markets, New Profits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64770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Rapid </a:t>
            </a:r>
            <a:r>
              <a:rPr lang="en-US" b="true" i="false" strike="noStrike" u="none" sz="27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Der</a:t>
            </a:r>
            <a:r>
              <a:rPr lang="en-US" b="true" i="false" strike="noStrike" u="none" sz="27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 Onboarding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5763" y="1338263"/>
            <a:ext cx="5610225" cy="1514475"/>
          </a:xfrm>
          <a:custGeom>
            <a:avLst/>
            <a:gdLst/>
            <a:ahLst/>
            <a:cxnLst/>
            <a:rect r="r" b="b" t="t" l="l"/>
            <a:pathLst>
              <a:path h="1514475" w="561022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400178"/>
                </a:lnTo>
                <a:cubicBezTo>
                  <a:pt x="5610225" y="1463260"/>
                  <a:pt x="5559010" y="1514475"/>
                  <a:pt x="549592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604131" y="1571625"/>
            <a:ext cx="191915" cy="178594"/>
          </a:xfrm>
          <a:custGeom>
            <a:avLst/>
            <a:gdLst/>
            <a:ahLst/>
            <a:cxnLst/>
            <a:rect r="r" b="b" t="t" l="l"/>
            <a:pathLst>
              <a:path h="178594" w="191915">
                <a:moveTo>
                  <a:pt x="95957" y="0"/>
                </a:moveTo>
                <a:cubicBezTo>
                  <a:pt x="101426" y="0"/>
                  <a:pt x="106448" y="3014"/>
                  <a:pt x="109055" y="7813"/>
                </a:cubicBezTo>
                <a:lnTo>
                  <a:pt x="189421" y="156642"/>
                </a:lnTo>
                <a:cubicBezTo>
                  <a:pt x="191914" y="161254"/>
                  <a:pt x="191803" y="166836"/>
                  <a:pt x="189123" y="171338"/>
                </a:cubicBezTo>
                <a:cubicBezTo>
                  <a:pt x="186445" y="175840"/>
                  <a:pt x="181570" y="178594"/>
                  <a:pt x="176324" y="178594"/>
                </a:cubicBezTo>
                <a:lnTo>
                  <a:pt x="15590" y="178594"/>
                </a:lnTo>
                <a:cubicBezTo>
                  <a:pt x="10344" y="178594"/>
                  <a:pt x="5508" y="175840"/>
                  <a:pt x="2791" y="171338"/>
                </a:cubicBezTo>
                <a:cubicBezTo>
                  <a:pt x="75" y="166836"/>
                  <a:pt x="0" y="161254"/>
                  <a:pt x="2493" y="156642"/>
                </a:cubicBezTo>
                <a:lnTo>
                  <a:pt x="82859" y="7813"/>
                </a:lnTo>
                <a:cubicBezTo>
                  <a:pt x="85466" y="3014"/>
                  <a:pt x="90488" y="0"/>
                  <a:pt x="95957" y="0"/>
                </a:cubicBezTo>
                <a:close/>
                <a:moveTo>
                  <a:pt x="95957" y="62508"/>
                </a:moveTo>
                <a:cubicBezTo>
                  <a:pt x="91008" y="62508"/>
                  <a:pt x="87028" y="66490"/>
                  <a:pt x="87028" y="71437"/>
                </a:cubicBezTo>
                <a:lnTo>
                  <a:pt x="87028" y="113109"/>
                </a:lnTo>
                <a:cubicBezTo>
                  <a:pt x="87028" y="118058"/>
                  <a:pt x="91008" y="122039"/>
                  <a:pt x="95957" y="122039"/>
                </a:cubicBezTo>
                <a:cubicBezTo>
                  <a:pt x="100906" y="122039"/>
                  <a:pt x="104886" y="118058"/>
                  <a:pt x="104886" y="113109"/>
                </a:cubicBezTo>
                <a:lnTo>
                  <a:pt x="104886" y="71437"/>
                </a:lnTo>
                <a:cubicBezTo>
                  <a:pt x="104886" y="66490"/>
                  <a:pt x="100906" y="62508"/>
                  <a:pt x="95957" y="62508"/>
                </a:cubicBezTo>
                <a:close/>
                <a:moveTo>
                  <a:pt x="105891" y="142875"/>
                </a:moveTo>
                <a:cubicBezTo>
                  <a:pt x="106117" y="139188"/>
                  <a:pt x="104278" y="135679"/>
                  <a:pt x="101117" y="133767"/>
                </a:cubicBezTo>
                <a:cubicBezTo>
                  <a:pt x="97956" y="131855"/>
                  <a:pt x="93995" y="131855"/>
                  <a:pt x="90834" y="133767"/>
                </a:cubicBezTo>
                <a:cubicBezTo>
                  <a:pt x="87673" y="135679"/>
                  <a:pt x="85834" y="139188"/>
                  <a:pt x="86060" y="142875"/>
                </a:cubicBezTo>
                <a:cubicBezTo>
                  <a:pt x="85834" y="146562"/>
                  <a:pt x="87673" y="150071"/>
                  <a:pt x="90834" y="151983"/>
                </a:cubicBezTo>
                <a:cubicBezTo>
                  <a:pt x="93995" y="153895"/>
                  <a:pt x="97956" y="153895"/>
                  <a:pt x="101117" y="151983"/>
                </a:cubicBezTo>
                <a:cubicBezTo>
                  <a:pt x="104278" y="150071"/>
                  <a:pt x="106117" y="146562"/>
                  <a:pt x="105891" y="142875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9150" y="15335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Pain Points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1025" y="1914525"/>
            <a:ext cx="5295900" cy="742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Traditional VPP platforms require </a:t>
            </a:r>
            <a:r>
              <a:rPr lang="en-US" b="true" i="false" strike="noStrike" u="none" sz="1200">
                <a:solidFill>
                  <a:srgbClr val="EF4444"/>
                </a:solidFill>
                <a:latin typeface="MiSans"/>
                <a:ea typeface="MiSans"/>
                <a:cs typeface="MiSans"/>
                <a:sym typeface="MiSans"/>
              </a:rPr>
              <a:t>weeks</a:t>
            </a: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for new device integration. Poor compatibility creates integration challenges with diverse "mixed-vendor" device ecosystems, severely limiting business scalability.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5763" y="3014663"/>
            <a:ext cx="5610225" cy="3457575"/>
          </a:xfrm>
          <a:custGeom>
            <a:avLst/>
            <a:gdLst/>
            <a:ahLst/>
            <a:cxnLst/>
            <a:rect r="r" b="b" t="t" l="l"/>
            <a:pathLst>
              <a:path h="3457575" w="5610225">
                <a:moveTo>
                  <a:pt x="114308" y="0"/>
                </a:moveTo>
                <a:lnTo>
                  <a:pt x="5495917" y="0"/>
                </a:lnTo>
                <a:cubicBezTo>
                  <a:pt x="5559048" y="0"/>
                  <a:pt x="5610225" y="51177"/>
                  <a:pt x="5610225" y="114308"/>
                </a:cubicBezTo>
                <a:lnTo>
                  <a:pt x="5610225" y="3343267"/>
                </a:lnTo>
                <a:cubicBezTo>
                  <a:pt x="5610225" y="3406398"/>
                  <a:pt x="5559048" y="3457575"/>
                  <a:pt x="5495917" y="3457575"/>
                </a:cubicBezTo>
                <a:lnTo>
                  <a:pt x="114308" y="3457575"/>
                </a:lnTo>
                <a:cubicBezTo>
                  <a:pt x="51177" y="3457575"/>
                  <a:pt x="0" y="3406398"/>
                  <a:pt x="0" y="33432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04838" y="324802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9150" y="32099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Manta's Universal Access Solution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0075" y="36290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00075" y="36290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61196" y="3775918"/>
            <a:ext cx="134958" cy="163413"/>
          </a:xfrm>
          <a:custGeom>
            <a:avLst/>
            <a:gdLst/>
            <a:ahLst/>
            <a:cxnLst/>
            <a:rect r="r" b="b" t="t" l="l"/>
            <a:pathLst>
              <a:path h="163413" w="134958">
                <a:moveTo>
                  <a:pt x="101650" y="2561"/>
                </a:moveTo>
                <a:cubicBezTo>
                  <a:pt x="105192" y="5120"/>
                  <a:pt x="106502" y="9763"/>
                  <a:pt x="104894" y="13812"/>
                </a:cubicBezTo>
                <a:lnTo>
                  <a:pt x="81558" y="72182"/>
                </a:lnTo>
                <a:lnTo>
                  <a:pt x="124629" y="72182"/>
                </a:lnTo>
                <a:cubicBezTo>
                  <a:pt x="128647" y="72182"/>
                  <a:pt x="132219" y="74683"/>
                  <a:pt x="133588" y="78463"/>
                </a:cubicBezTo>
                <a:cubicBezTo>
                  <a:pt x="134958" y="82243"/>
                  <a:pt x="133797" y="86470"/>
                  <a:pt x="130731" y="89029"/>
                </a:cubicBezTo>
                <a:lnTo>
                  <a:pt x="45006" y="160467"/>
                </a:lnTo>
                <a:cubicBezTo>
                  <a:pt x="41642" y="163265"/>
                  <a:pt x="36850" y="163414"/>
                  <a:pt x="33308" y="160853"/>
                </a:cubicBezTo>
                <a:cubicBezTo>
                  <a:pt x="29766" y="158294"/>
                  <a:pt x="28456" y="153651"/>
                  <a:pt x="30064" y="149602"/>
                </a:cubicBezTo>
                <a:lnTo>
                  <a:pt x="53400" y="91232"/>
                </a:lnTo>
                <a:lnTo>
                  <a:pt x="10329" y="91232"/>
                </a:lnTo>
                <a:cubicBezTo>
                  <a:pt x="6311" y="91232"/>
                  <a:pt x="2739" y="88731"/>
                  <a:pt x="1370" y="84951"/>
                </a:cubicBezTo>
                <a:cubicBezTo>
                  <a:pt x="0" y="81171"/>
                  <a:pt x="1161" y="76944"/>
                  <a:pt x="4227" y="74385"/>
                </a:cubicBezTo>
                <a:lnTo>
                  <a:pt x="89952" y="2947"/>
                </a:lnTo>
                <a:cubicBezTo>
                  <a:pt x="93316" y="149"/>
                  <a:pt x="98108" y="0"/>
                  <a:pt x="101650" y="2561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23925" y="3743325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Rapid Equipment Integration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3425" y="4010025"/>
            <a:ext cx="5019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Mainstream manufacturer equipment connected in </a:t>
            </a:r>
            <a:r>
              <a:rPr lang="en-US" b="true" i="false" strike="noStrike" u="none" sz="1100">
                <a:solidFill>
                  <a:srgbClr val="00D4AA"/>
                </a:solidFill>
                <a:latin typeface="MiSans"/>
                <a:ea typeface="MiSans"/>
                <a:cs typeface="MiSans"/>
                <a:sym typeface="MiSans"/>
              </a:rPr>
              <a:t>hours, not weeks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00075" y="44291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00075" y="44291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742950" y="4581525"/>
            <a:ext cx="172759" cy="153709"/>
          </a:xfrm>
          <a:custGeom>
            <a:avLst/>
            <a:gdLst/>
            <a:ahLst/>
            <a:cxnLst/>
            <a:rect r="r" b="b" t="t" l="l"/>
            <a:pathLst>
              <a:path h="153709" w="172759">
                <a:moveTo>
                  <a:pt x="47625" y="0"/>
                </a:moveTo>
                <a:cubicBezTo>
                  <a:pt x="52894" y="0"/>
                  <a:pt x="57150" y="4256"/>
                  <a:pt x="57150" y="9525"/>
                </a:cubicBezTo>
                <a:lnTo>
                  <a:pt x="57150" y="19050"/>
                </a:lnTo>
                <a:lnTo>
                  <a:pt x="95250" y="19050"/>
                </a:lnTo>
                <a:cubicBezTo>
                  <a:pt x="100519" y="19050"/>
                  <a:pt x="104775" y="23306"/>
                  <a:pt x="104775" y="28575"/>
                </a:cubicBezTo>
                <a:cubicBezTo>
                  <a:pt x="104775" y="33844"/>
                  <a:pt x="100519" y="38100"/>
                  <a:pt x="95250" y="38100"/>
                </a:cubicBezTo>
                <a:lnTo>
                  <a:pt x="92393" y="38100"/>
                </a:lnTo>
                <a:lnTo>
                  <a:pt x="89892" y="44976"/>
                </a:lnTo>
                <a:cubicBezTo>
                  <a:pt x="85011" y="58430"/>
                  <a:pt x="77659" y="70722"/>
                  <a:pt x="68401" y="81290"/>
                </a:cubicBezTo>
                <a:cubicBezTo>
                  <a:pt x="72627" y="83909"/>
                  <a:pt x="77033" y="86230"/>
                  <a:pt x="81617" y="88285"/>
                </a:cubicBezTo>
                <a:lnTo>
                  <a:pt x="96619" y="94952"/>
                </a:lnTo>
                <a:lnTo>
                  <a:pt x="115133" y="53280"/>
                </a:lnTo>
                <a:cubicBezTo>
                  <a:pt x="116651" y="49828"/>
                  <a:pt x="120075" y="47625"/>
                  <a:pt x="123825" y="47625"/>
                </a:cubicBezTo>
                <a:cubicBezTo>
                  <a:pt x="127575" y="47625"/>
                  <a:pt x="130999" y="49828"/>
                  <a:pt x="132517" y="53280"/>
                </a:cubicBezTo>
                <a:lnTo>
                  <a:pt x="170617" y="139005"/>
                </a:lnTo>
                <a:cubicBezTo>
                  <a:pt x="172759" y="143827"/>
                  <a:pt x="170586" y="149454"/>
                  <a:pt x="165795" y="151567"/>
                </a:cubicBezTo>
                <a:cubicBezTo>
                  <a:pt x="161002" y="153680"/>
                  <a:pt x="155346" y="151536"/>
                  <a:pt x="153233" y="146745"/>
                </a:cubicBezTo>
                <a:lnTo>
                  <a:pt x="147281" y="133350"/>
                </a:lnTo>
                <a:lnTo>
                  <a:pt x="100399" y="133350"/>
                </a:lnTo>
                <a:lnTo>
                  <a:pt x="94446" y="146745"/>
                </a:lnTo>
                <a:cubicBezTo>
                  <a:pt x="92304" y="151567"/>
                  <a:pt x="86678" y="153709"/>
                  <a:pt x="81885" y="151567"/>
                </a:cubicBezTo>
                <a:cubicBezTo>
                  <a:pt x="77093" y="149423"/>
                  <a:pt x="74920" y="143798"/>
                  <a:pt x="77064" y="139005"/>
                </a:cubicBezTo>
                <a:lnTo>
                  <a:pt x="88910" y="112365"/>
                </a:lnTo>
                <a:lnTo>
                  <a:pt x="73908" y="105698"/>
                </a:lnTo>
                <a:cubicBezTo>
                  <a:pt x="67062" y="102662"/>
                  <a:pt x="60514" y="99030"/>
                  <a:pt x="54322" y="94863"/>
                </a:cubicBezTo>
                <a:cubicBezTo>
                  <a:pt x="47982" y="99983"/>
                  <a:pt x="41046" y="104449"/>
                  <a:pt x="33635" y="108168"/>
                </a:cubicBezTo>
                <a:lnTo>
                  <a:pt x="23306" y="113288"/>
                </a:lnTo>
                <a:cubicBezTo>
                  <a:pt x="18604" y="115639"/>
                  <a:pt x="12889" y="113734"/>
                  <a:pt x="10537" y="109031"/>
                </a:cubicBezTo>
                <a:cubicBezTo>
                  <a:pt x="8186" y="104329"/>
                  <a:pt x="10091" y="98614"/>
                  <a:pt x="14794" y="96262"/>
                </a:cubicBezTo>
                <a:lnTo>
                  <a:pt x="25063" y="91114"/>
                </a:lnTo>
                <a:cubicBezTo>
                  <a:pt x="29914" y="88671"/>
                  <a:pt x="34527" y="85844"/>
                  <a:pt x="38873" y="82688"/>
                </a:cubicBezTo>
                <a:cubicBezTo>
                  <a:pt x="34766" y="78909"/>
                  <a:pt x="30897" y="74831"/>
                  <a:pt x="27295" y="70515"/>
                </a:cubicBezTo>
                <a:lnTo>
                  <a:pt x="24289" y="66883"/>
                </a:lnTo>
                <a:cubicBezTo>
                  <a:pt x="20925" y="62835"/>
                  <a:pt x="21460" y="56824"/>
                  <a:pt x="25509" y="53459"/>
                </a:cubicBezTo>
                <a:cubicBezTo>
                  <a:pt x="29557" y="50096"/>
                  <a:pt x="35570" y="50631"/>
                  <a:pt x="38933" y="54679"/>
                </a:cubicBezTo>
                <a:lnTo>
                  <a:pt x="41970" y="58311"/>
                </a:lnTo>
                <a:cubicBezTo>
                  <a:pt x="45394" y="62448"/>
                  <a:pt x="49143" y="66288"/>
                  <a:pt x="53103" y="69830"/>
                </a:cubicBezTo>
                <a:cubicBezTo>
                  <a:pt x="61286" y="60781"/>
                  <a:pt x="67747" y="50155"/>
                  <a:pt x="72003" y="38457"/>
                </a:cubicBezTo>
                <a:lnTo>
                  <a:pt x="72153" y="38100"/>
                </a:lnTo>
                <a:lnTo>
                  <a:pt x="9555" y="38100"/>
                </a:lnTo>
                <a:cubicBezTo>
                  <a:pt x="4256" y="38100"/>
                  <a:pt x="0" y="33844"/>
                  <a:pt x="0" y="28575"/>
                </a:cubicBezTo>
                <a:cubicBezTo>
                  <a:pt x="0" y="23306"/>
                  <a:pt x="4256" y="19050"/>
                  <a:pt x="9525" y="19050"/>
                </a:cubicBezTo>
                <a:lnTo>
                  <a:pt x="38100" y="19050"/>
                </a:lnTo>
                <a:lnTo>
                  <a:pt x="38100" y="9525"/>
                </a:lnTo>
                <a:cubicBezTo>
                  <a:pt x="38100" y="4256"/>
                  <a:pt x="42356" y="0"/>
                  <a:pt x="47625" y="0"/>
                </a:cubicBezTo>
                <a:close/>
                <a:moveTo>
                  <a:pt x="123825" y="80606"/>
                </a:moveTo>
                <a:lnTo>
                  <a:pt x="108853" y="114300"/>
                </a:lnTo>
                <a:lnTo>
                  <a:pt x="138797" y="114300"/>
                </a:lnTo>
                <a:lnTo>
                  <a:pt x="123825" y="80606"/>
                </a:ln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3925" y="4543425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Unified Semantic Model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3425" y="4810125"/>
            <a:ext cx="5019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Standardized data models reduce configuration complexity by </a:t>
            </a:r>
            <a:r>
              <a:rPr lang="en-US" b="true" i="false" strike="noStrike" u="none" sz="1100">
                <a:solidFill>
                  <a:srgbClr val="00D4AA"/>
                </a:solidFill>
                <a:latin typeface="MiSans"/>
                <a:ea typeface="MiSans"/>
                <a:cs typeface="MiSans"/>
                <a:sym typeface="MiSans"/>
              </a:rPr>
              <a:t>95%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00075" y="52292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00075" y="52292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762000" y="5372100"/>
            <a:ext cx="133350" cy="161925"/>
          </a:xfrm>
          <a:custGeom>
            <a:avLst/>
            <a:gdLst/>
            <a:ahLst/>
            <a:cxnLst/>
            <a:rect r="r" b="b" t="t" l="l"/>
            <a:pathLst>
              <a:path h="161925" w="13335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38100"/>
                </a:lnTo>
                <a:lnTo>
                  <a:pt x="85725" y="3810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38100"/>
                </a:lnTo>
                <a:lnTo>
                  <a:pt x="123825" y="38100"/>
                </a:lnTo>
                <a:cubicBezTo>
                  <a:pt x="129094" y="38100"/>
                  <a:pt x="133350" y="42356"/>
                  <a:pt x="133350" y="47625"/>
                </a:cubicBezTo>
                <a:cubicBezTo>
                  <a:pt x="133350" y="52894"/>
                  <a:pt x="129094" y="57150"/>
                  <a:pt x="123825" y="57150"/>
                </a:cubicBezTo>
                <a:lnTo>
                  <a:pt x="123825" y="76200"/>
                </a:lnTo>
                <a:cubicBezTo>
                  <a:pt x="123825" y="104507"/>
                  <a:pt x="103227" y="128022"/>
                  <a:pt x="76200" y="132546"/>
                </a:cubicBezTo>
                <a:lnTo>
                  <a:pt x="76200" y="152400"/>
                </a:lnTo>
                <a:cubicBezTo>
                  <a:pt x="76200" y="157669"/>
                  <a:pt x="71944" y="161925"/>
                  <a:pt x="66675" y="161925"/>
                </a:cubicBezTo>
                <a:cubicBezTo>
                  <a:pt x="61406" y="161925"/>
                  <a:pt x="57150" y="157669"/>
                  <a:pt x="57150" y="152400"/>
                </a:cubicBezTo>
                <a:lnTo>
                  <a:pt x="57150" y="132546"/>
                </a:lnTo>
                <a:cubicBezTo>
                  <a:pt x="30123" y="128022"/>
                  <a:pt x="9525" y="104507"/>
                  <a:pt x="9525" y="76200"/>
                </a:cubicBezTo>
                <a:lnTo>
                  <a:pt x="9525" y="57150"/>
                </a:lnTo>
                <a:cubicBezTo>
                  <a:pt x="4256" y="57150"/>
                  <a:pt x="0" y="52894"/>
                  <a:pt x="0" y="47625"/>
                </a:cubicBezTo>
                <a:cubicBezTo>
                  <a:pt x="0" y="42356"/>
                  <a:pt x="4256" y="38100"/>
                  <a:pt x="9525" y="38100"/>
                </a:cubicBezTo>
                <a:lnTo>
                  <a:pt x="28575" y="3810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23925" y="5343525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20</a:t>
            </a: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+ Pre-integrated Manufacturers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3425" y="5610225"/>
            <a:ext cx="5019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Tesla, Sungrow, Huawei, SMA, GoodWe and more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196013" y="1338263"/>
            <a:ext cx="5610225" cy="3819525"/>
          </a:xfrm>
          <a:custGeom>
            <a:avLst/>
            <a:gdLst/>
            <a:ahLst/>
            <a:cxnLst/>
            <a:rect r="r" b="b" t="t" l="l"/>
            <a:pathLst>
              <a:path h="3819525" w="5610225">
                <a:moveTo>
                  <a:pt x="114318" y="0"/>
                </a:moveTo>
                <a:lnTo>
                  <a:pt x="5495907" y="0"/>
                </a:lnTo>
                <a:cubicBezTo>
                  <a:pt x="5559043" y="0"/>
                  <a:pt x="5610225" y="51182"/>
                  <a:pt x="5610225" y="114318"/>
                </a:cubicBezTo>
                <a:lnTo>
                  <a:pt x="5610225" y="3705207"/>
                </a:lnTo>
                <a:cubicBezTo>
                  <a:pt x="5610225" y="3768343"/>
                  <a:pt x="5559043" y="3819525"/>
                  <a:pt x="5495907" y="3819525"/>
                </a:cubicBezTo>
                <a:lnTo>
                  <a:pt x="114318" y="3819525"/>
                </a:lnTo>
                <a:cubicBezTo>
                  <a:pt x="51182" y="3819525"/>
                  <a:pt x="0" y="3768343"/>
                  <a:pt x="0" y="3705207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415088" y="1583531"/>
            <a:ext cx="190500" cy="166688"/>
          </a:xfrm>
          <a:custGeom>
            <a:avLst/>
            <a:gdLst/>
            <a:ahLst/>
            <a:cxnLst/>
            <a:rect r="r" b="b" t="t" l="l"/>
            <a:pathLst>
              <a:path h="166688" w="190500">
                <a:moveTo>
                  <a:pt x="11906" y="0"/>
                </a:moveTo>
                <a:cubicBezTo>
                  <a:pt x="18492" y="0"/>
                  <a:pt x="23812" y="5322"/>
                  <a:pt x="23812" y="11907"/>
                </a:cubicBezTo>
                <a:lnTo>
                  <a:pt x="23812" y="136921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178594" y="142875"/>
                </a:lnTo>
                <a:cubicBezTo>
                  <a:pt x="185179" y="142875"/>
                  <a:pt x="190500" y="148197"/>
                  <a:pt x="190500" y="154781"/>
                </a:cubicBezTo>
                <a:cubicBezTo>
                  <a:pt x="190500" y="161366"/>
                  <a:pt x="185179" y="166688"/>
                  <a:pt x="178594" y="166688"/>
                </a:cubicBezTo>
                <a:lnTo>
                  <a:pt x="29766" y="166688"/>
                </a:lnTo>
                <a:cubicBezTo>
                  <a:pt x="13320" y="166688"/>
                  <a:pt x="0" y="153368"/>
                  <a:pt x="0" y="136921"/>
                </a:cubicBezTo>
                <a:lnTo>
                  <a:pt x="0" y="11907"/>
                </a:lnTo>
                <a:cubicBezTo>
                  <a:pt x="0" y="5322"/>
                  <a:pt x="5321" y="0"/>
                  <a:pt x="11906" y="0"/>
                </a:cubicBezTo>
                <a:close/>
                <a:moveTo>
                  <a:pt x="47625" y="23813"/>
                </a:moveTo>
                <a:cubicBezTo>
                  <a:pt x="47625" y="17227"/>
                  <a:pt x="52946" y="11907"/>
                  <a:pt x="59531" y="11907"/>
                </a:cubicBezTo>
                <a:lnTo>
                  <a:pt x="130969" y="11907"/>
                </a:lnTo>
                <a:cubicBezTo>
                  <a:pt x="137554" y="11907"/>
                  <a:pt x="142875" y="17227"/>
                  <a:pt x="142875" y="23813"/>
                </a:cubicBezTo>
                <a:cubicBezTo>
                  <a:pt x="142875" y="30398"/>
                  <a:pt x="137554" y="35719"/>
                  <a:pt x="130969" y="35719"/>
                </a:cubicBezTo>
                <a:lnTo>
                  <a:pt x="59531" y="35719"/>
                </a:lnTo>
                <a:cubicBezTo>
                  <a:pt x="52946" y="35719"/>
                  <a:pt x="47625" y="30398"/>
                  <a:pt x="47625" y="23813"/>
                </a:cubicBezTo>
                <a:close/>
                <a:moveTo>
                  <a:pt x="59531" y="53578"/>
                </a:moveTo>
                <a:lnTo>
                  <a:pt x="107156" y="53578"/>
                </a:lnTo>
                <a:cubicBezTo>
                  <a:pt x="113742" y="53578"/>
                  <a:pt x="119062" y="58899"/>
                  <a:pt x="119062" y="65485"/>
                </a:cubicBezTo>
                <a:cubicBezTo>
                  <a:pt x="119062" y="72070"/>
                  <a:pt x="113742" y="77392"/>
                  <a:pt x="107156" y="77392"/>
                </a:cubicBezTo>
                <a:lnTo>
                  <a:pt x="59531" y="77392"/>
                </a:lnTo>
                <a:cubicBezTo>
                  <a:pt x="52946" y="77392"/>
                  <a:pt x="47625" y="72070"/>
                  <a:pt x="47625" y="65485"/>
                </a:cubicBezTo>
                <a:cubicBezTo>
                  <a:pt x="47625" y="58899"/>
                  <a:pt x="52946" y="53578"/>
                  <a:pt x="59531" y="53578"/>
                </a:cubicBezTo>
                <a:close/>
                <a:moveTo>
                  <a:pt x="59531" y="95250"/>
                </a:moveTo>
                <a:lnTo>
                  <a:pt x="154781" y="95250"/>
                </a:lnTo>
                <a:cubicBezTo>
                  <a:pt x="161367" y="95250"/>
                  <a:pt x="166688" y="100572"/>
                  <a:pt x="166688" y="107157"/>
                </a:cubicBezTo>
                <a:cubicBezTo>
                  <a:pt x="166688" y="113741"/>
                  <a:pt x="161367" y="119063"/>
                  <a:pt x="154781" y="119063"/>
                </a:cubicBezTo>
                <a:lnTo>
                  <a:pt x="59531" y="119063"/>
                </a:lnTo>
                <a:cubicBezTo>
                  <a:pt x="52946" y="119063"/>
                  <a:pt x="47625" y="113741"/>
                  <a:pt x="47625" y="107157"/>
                </a:cubicBezTo>
                <a:cubicBezTo>
                  <a:pt x="47625" y="100572"/>
                  <a:pt x="52946" y="95250"/>
                  <a:pt x="59531" y="9525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29400" y="15335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Competitive Advantage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91275" y="1985963"/>
            <a:ext cx="1257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Onboarding Time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41744" y="1985963"/>
            <a:ext cx="5429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Weeks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10702826" y="2042160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2" y="7440"/>
                  <a:pt x="84772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2" y="102721"/>
                  <a:pt x="84772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950476" y="1952625"/>
            <a:ext cx="771525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D4AA"/>
                </a:solidFill>
                <a:latin typeface="Noto Sans SC"/>
                <a:ea typeface="Noto Sans SC"/>
                <a:cs typeface="Noto Sans SC"/>
                <a:sym typeface="Noto Sans SC"/>
              </a:rPr>
              <a:t>Hours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6391275" y="2324100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293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6391275" y="2324100"/>
            <a:ext cx="4962525" cy="114300"/>
          </a:xfrm>
          <a:custGeom>
            <a:avLst/>
            <a:gdLst/>
            <a:ahLst/>
            <a:cxnLst/>
            <a:rect r="r" b="b" t="t" l="l"/>
            <a:pathLst>
              <a:path h="114300" w="4962525">
                <a:moveTo>
                  <a:pt x="57150" y="0"/>
                </a:moveTo>
                <a:lnTo>
                  <a:pt x="4905375" y="0"/>
                </a:lnTo>
                <a:cubicBezTo>
                  <a:pt x="4936917" y="0"/>
                  <a:pt x="4962525" y="25608"/>
                  <a:pt x="4962525" y="57150"/>
                </a:cubicBezTo>
                <a:lnTo>
                  <a:pt x="4962525" y="57150"/>
                </a:lnTo>
                <a:cubicBezTo>
                  <a:pt x="4962525" y="88692"/>
                  <a:pt x="4936917" y="114300"/>
                  <a:pt x="49053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true">
            <a:gsLst>
              <a:gs pos="0">
                <a:srgbClr val="3B82F6">
                  <a:alpha val="100000"/>
                </a:srgbClr>
              </a:gs>
              <a:gs pos="100000">
                <a:srgbClr val="00D4AA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391275" y="2624138"/>
            <a:ext cx="2347912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Configuration Complexity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077277" y="2590800"/>
            <a:ext cx="647700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D4AA"/>
                </a:solidFill>
                <a:latin typeface="Noto Sans SC"/>
                <a:ea typeface="Noto Sans SC"/>
                <a:cs typeface="Noto Sans SC"/>
                <a:sym typeface="Noto Sans SC"/>
              </a:rPr>
              <a:t>-95%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6391275" y="2962275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293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6391275" y="2962275"/>
            <a:ext cx="4962525" cy="114300"/>
          </a:xfrm>
          <a:custGeom>
            <a:avLst/>
            <a:gdLst/>
            <a:ahLst/>
            <a:cxnLst/>
            <a:rect r="r" b="b" t="t" l="l"/>
            <a:pathLst>
              <a:path h="114300" w="4962525">
                <a:moveTo>
                  <a:pt x="57150" y="0"/>
                </a:moveTo>
                <a:lnTo>
                  <a:pt x="4905375" y="0"/>
                </a:lnTo>
                <a:cubicBezTo>
                  <a:pt x="4936917" y="0"/>
                  <a:pt x="4962525" y="25608"/>
                  <a:pt x="4962525" y="57150"/>
                </a:cubicBezTo>
                <a:lnTo>
                  <a:pt x="4962525" y="57150"/>
                </a:lnTo>
                <a:cubicBezTo>
                  <a:pt x="4962525" y="88692"/>
                  <a:pt x="4936917" y="114300"/>
                  <a:pt x="49053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391275" y="3490913"/>
            <a:ext cx="1676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Manufacturer Coverage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1177588" y="3481388"/>
            <a:ext cx="628650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D4AA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r>
              <a:rPr lang="en-US" b="true" i="false" strike="noStrike" u="none" sz="1800">
                <a:solidFill>
                  <a:srgbClr val="00D4AA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6391275" y="3829050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293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1" id="41"/>
          <p:cNvSpPr/>
          <p:nvPr/>
        </p:nvSpPr>
        <p:spPr>
          <a:xfrm rot="0" flipH="false" flipV="false">
            <a:off x="6391275" y="3829050"/>
            <a:ext cx="4695825" cy="114300"/>
          </a:xfrm>
          <a:custGeom>
            <a:avLst/>
            <a:gdLst/>
            <a:ahLst/>
            <a:cxnLst/>
            <a:rect r="r" b="b" t="t" l="l"/>
            <a:pathLst>
              <a:path h="114300" w="4695825">
                <a:moveTo>
                  <a:pt x="57150" y="0"/>
                </a:moveTo>
                <a:lnTo>
                  <a:pt x="4638675" y="0"/>
                </a:lnTo>
                <a:cubicBezTo>
                  <a:pt x="4670217" y="0"/>
                  <a:pt x="4695825" y="25608"/>
                  <a:pt x="4695825" y="57150"/>
                </a:cubicBezTo>
                <a:lnTo>
                  <a:pt x="4695825" y="57150"/>
                </a:lnTo>
                <a:cubicBezTo>
                  <a:pt x="4695825" y="88692"/>
                  <a:pt x="4670217" y="114300"/>
                  <a:pt x="4638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391275" y="3981450"/>
            <a:ext cx="52863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Market-leading device compatibility</a:t>
            </a:r>
            <a:endParaRPr lang="en-US" sz="1100"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6196013" y="5319713"/>
            <a:ext cx="5610225" cy="1152525"/>
          </a:xfrm>
          <a:custGeom>
            <a:avLst/>
            <a:gdLst/>
            <a:ahLst/>
            <a:cxnLst/>
            <a:rect r="r" b="b" t="t" l="l"/>
            <a:pathLst>
              <a:path h="1152525" w="56102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1038229"/>
                </a:lnTo>
                <a:cubicBezTo>
                  <a:pt x="5610225" y="1101353"/>
                  <a:pt x="5559053" y="1152525"/>
                  <a:pt x="549592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0D4AA">
              <a:alpha val="10196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4" id="44"/>
          <p:cNvSpPr/>
          <p:nvPr/>
        </p:nvSpPr>
        <p:spPr>
          <a:xfrm rot="0" flipH="false" flipV="false">
            <a:off x="6388894" y="5550694"/>
            <a:ext cx="166688" cy="119062"/>
          </a:xfrm>
          <a:custGeom>
            <a:avLst/>
            <a:gdLst/>
            <a:ahLst/>
            <a:cxnLst/>
            <a:rect r="r" b="b" t="t" l="l"/>
            <a:pathLst>
              <a:path h="119062" w="166688">
                <a:moveTo>
                  <a:pt x="0" y="44648"/>
                </a:moveTo>
                <a:cubicBezTo>
                  <a:pt x="0" y="19979"/>
                  <a:pt x="19980" y="0"/>
                  <a:pt x="44648" y="0"/>
                </a:cubicBezTo>
                <a:lnTo>
                  <a:pt x="47625" y="0"/>
                </a:lnTo>
                <a:cubicBezTo>
                  <a:pt x="54211" y="0"/>
                  <a:pt x="59531" y="5320"/>
                  <a:pt x="59531" y="11906"/>
                </a:cubicBezTo>
                <a:cubicBezTo>
                  <a:pt x="59531" y="18492"/>
                  <a:pt x="54211" y="23812"/>
                  <a:pt x="47625" y="23812"/>
                </a:cubicBezTo>
                <a:lnTo>
                  <a:pt x="44648" y="23812"/>
                </a:lnTo>
                <a:cubicBezTo>
                  <a:pt x="33151" y="23812"/>
                  <a:pt x="23812" y="33151"/>
                  <a:pt x="23812" y="44648"/>
                </a:cubicBezTo>
                <a:lnTo>
                  <a:pt x="23812" y="47625"/>
                </a:lnTo>
                <a:lnTo>
                  <a:pt x="47625" y="47625"/>
                </a:lnTo>
                <a:cubicBezTo>
                  <a:pt x="60759" y="47625"/>
                  <a:pt x="71438" y="58303"/>
                  <a:pt x="71438" y="71437"/>
                </a:cubicBezTo>
                <a:lnTo>
                  <a:pt x="71438" y="95250"/>
                </a:lnTo>
                <a:cubicBezTo>
                  <a:pt x="71438" y="108384"/>
                  <a:pt x="60759" y="119062"/>
                  <a:pt x="47625" y="119062"/>
                </a:cubicBezTo>
                <a:lnTo>
                  <a:pt x="23812" y="119062"/>
                </a:lnTo>
                <a:cubicBezTo>
                  <a:pt x="10678" y="119062"/>
                  <a:pt x="0" y="108384"/>
                  <a:pt x="0" y="95250"/>
                </a:cubicBezTo>
                <a:lnTo>
                  <a:pt x="0" y="44648"/>
                </a:lnTo>
                <a:close/>
                <a:moveTo>
                  <a:pt x="95250" y="44648"/>
                </a:moveTo>
                <a:cubicBezTo>
                  <a:pt x="95250" y="19979"/>
                  <a:pt x="115230" y="0"/>
                  <a:pt x="139898" y="0"/>
                </a:cubicBezTo>
                <a:lnTo>
                  <a:pt x="142875" y="0"/>
                </a:lnTo>
                <a:cubicBezTo>
                  <a:pt x="149461" y="0"/>
                  <a:pt x="154781" y="5320"/>
                  <a:pt x="154781" y="11906"/>
                </a:cubicBezTo>
                <a:cubicBezTo>
                  <a:pt x="154781" y="18492"/>
                  <a:pt x="149461" y="23812"/>
                  <a:pt x="142875" y="23812"/>
                </a:cubicBezTo>
                <a:lnTo>
                  <a:pt x="139898" y="23812"/>
                </a:lnTo>
                <a:cubicBezTo>
                  <a:pt x="128401" y="23812"/>
                  <a:pt x="119063" y="33151"/>
                  <a:pt x="119063" y="44648"/>
                </a:cubicBezTo>
                <a:lnTo>
                  <a:pt x="119063" y="47625"/>
                </a:lnTo>
                <a:lnTo>
                  <a:pt x="142875" y="47625"/>
                </a:lnTo>
                <a:cubicBezTo>
                  <a:pt x="156009" y="47625"/>
                  <a:pt x="166688" y="58303"/>
                  <a:pt x="166688" y="71437"/>
                </a:cubicBezTo>
                <a:lnTo>
                  <a:pt x="166688" y="95250"/>
                </a:lnTo>
                <a:cubicBezTo>
                  <a:pt x="166688" y="108384"/>
                  <a:pt x="156009" y="119062"/>
                  <a:pt x="142875" y="119062"/>
                </a:cubicBezTo>
                <a:lnTo>
                  <a:pt x="119063" y="119062"/>
                </a:lnTo>
                <a:cubicBezTo>
                  <a:pt x="105928" y="119062"/>
                  <a:pt x="95250" y="108384"/>
                  <a:pt x="95250" y="95250"/>
                </a:cubicBezTo>
                <a:lnTo>
                  <a:pt x="95250" y="44648"/>
                </a:ln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705600" y="5476875"/>
            <a:ext cx="139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Customer Value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6353175" y="5819775"/>
            <a:ext cx="53721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Device onboarding is no longer a bottleneck. </a:t>
            </a:r>
            <a:r>
              <a:rPr lang="en-US" b="true" i="false" strike="noStrike" u="none" sz="1200">
                <a:solidFill>
                  <a:srgbClr val="00D4AA"/>
                </a:solidFill>
                <a:latin typeface="MiSans"/>
                <a:ea typeface="MiSans"/>
                <a:cs typeface="MiSans"/>
                <a:sym typeface="MiSans"/>
              </a:rPr>
              <a:t>90% faster integration</a:t>
            </a: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enables rapid market response and competitive advantage.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64770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Flexible Strategy Configuration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5763" y="1338263"/>
            <a:ext cx="5610225" cy="1514475"/>
          </a:xfrm>
          <a:custGeom>
            <a:avLst/>
            <a:gdLst/>
            <a:ahLst/>
            <a:cxnLst/>
            <a:rect r="r" b="b" t="t" l="l"/>
            <a:pathLst>
              <a:path h="1514475" w="561022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400178"/>
                </a:lnTo>
                <a:cubicBezTo>
                  <a:pt x="5610225" y="1463260"/>
                  <a:pt x="5559010" y="1514475"/>
                  <a:pt x="549592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604131" y="1571625"/>
            <a:ext cx="191915" cy="178594"/>
          </a:xfrm>
          <a:custGeom>
            <a:avLst/>
            <a:gdLst/>
            <a:ahLst/>
            <a:cxnLst/>
            <a:rect r="r" b="b" t="t" l="l"/>
            <a:pathLst>
              <a:path h="178594" w="191915">
                <a:moveTo>
                  <a:pt x="95957" y="0"/>
                </a:moveTo>
                <a:cubicBezTo>
                  <a:pt x="101426" y="0"/>
                  <a:pt x="106448" y="3014"/>
                  <a:pt x="109055" y="7813"/>
                </a:cubicBezTo>
                <a:lnTo>
                  <a:pt x="189421" y="156642"/>
                </a:lnTo>
                <a:cubicBezTo>
                  <a:pt x="191914" y="161254"/>
                  <a:pt x="191803" y="166836"/>
                  <a:pt x="189123" y="171338"/>
                </a:cubicBezTo>
                <a:cubicBezTo>
                  <a:pt x="186445" y="175840"/>
                  <a:pt x="181570" y="178594"/>
                  <a:pt x="176324" y="178594"/>
                </a:cubicBezTo>
                <a:lnTo>
                  <a:pt x="15590" y="178594"/>
                </a:lnTo>
                <a:cubicBezTo>
                  <a:pt x="10344" y="178594"/>
                  <a:pt x="5508" y="175840"/>
                  <a:pt x="2791" y="171338"/>
                </a:cubicBezTo>
                <a:cubicBezTo>
                  <a:pt x="75" y="166836"/>
                  <a:pt x="0" y="161254"/>
                  <a:pt x="2493" y="156642"/>
                </a:cubicBezTo>
                <a:lnTo>
                  <a:pt x="82859" y="7813"/>
                </a:lnTo>
                <a:cubicBezTo>
                  <a:pt x="85466" y="3014"/>
                  <a:pt x="90488" y="0"/>
                  <a:pt x="95957" y="0"/>
                </a:cubicBezTo>
                <a:close/>
                <a:moveTo>
                  <a:pt x="95957" y="62508"/>
                </a:moveTo>
                <a:cubicBezTo>
                  <a:pt x="91008" y="62508"/>
                  <a:pt x="87028" y="66490"/>
                  <a:pt x="87028" y="71437"/>
                </a:cubicBezTo>
                <a:lnTo>
                  <a:pt x="87028" y="113109"/>
                </a:lnTo>
                <a:cubicBezTo>
                  <a:pt x="87028" y="118058"/>
                  <a:pt x="91008" y="122039"/>
                  <a:pt x="95957" y="122039"/>
                </a:cubicBezTo>
                <a:cubicBezTo>
                  <a:pt x="100906" y="122039"/>
                  <a:pt x="104886" y="118058"/>
                  <a:pt x="104886" y="113109"/>
                </a:cubicBezTo>
                <a:lnTo>
                  <a:pt x="104886" y="71437"/>
                </a:lnTo>
                <a:cubicBezTo>
                  <a:pt x="104886" y="66490"/>
                  <a:pt x="100906" y="62508"/>
                  <a:pt x="95957" y="62508"/>
                </a:cubicBezTo>
                <a:close/>
                <a:moveTo>
                  <a:pt x="105891" y="142875"/>
                </a:moveTo>
                <a:cubicBezTo>
                  <a:pt x="106117" y="139188"/>
                  <a:pt x="104278" y="135679"/>
                  <a:pt x="101117" y="133767"/>
                </a:cubicBezTo>
                <a:cubicBezTo>
                  <a:pt x="97956" y="131855"/>
                  <a:pt x="93995" y="131855"/>
                  <a:pt x="90834" y="133767"/>
                </a:cubicBezTo>
                <a:cubicBezTo>
                  <a:pt x="87673" y="135679"/>
                  <a:pt x="85834" y="139188"/>
                  <a:pt x="86060" y="142875"/>
                </a:cubicBezTo>
                <a:cubicBezTo>
                  <a:pt x="85834" y="146562"/>
                  <a:pt x="87673" y="150071"/>
                  <a:pt x="90834" y="151983"/>
                </a:cubicBezTo>
                <a:cubicBezTo>
                  <a:pt x="93995" y="153895"/>
                  <a:pt x="97956" y="153895"/>
                  <a:pt x="101117" y="151983"/>
                </a:cubicBezTo>
                <a:cubicBezTo>
                  <a:pt x="104278" y="150071"/>
                  <a:pt x="106117" y="146562"/>
                  <a:pt x="105891" y="142875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9150" y="15335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1025" y="1914525"/>
            <a:ext cx="5295900" cy="742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Traditional VPP platforms typically employ </a:t>
            </a:r>
            <a:r>
              <a:rPr lang="en-US" b="true" i="false" strike="noStrike" u="none" sz="1200">
                <a:solidFill>
                  <a:srgbClr val="EF4444"/>
                </a:solidFill>
                <a:latin typeface="MiSans"/>
                <a:ea typeface="MiSans"/>
                <a:cs typeface="MiSans"/>
                <a:sym typeface="MiSans"/>
              </a:rPr>
              <a:t>simple fixed strategies</a:t>
            </a: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with limited update capabilities. Strategy changes require code deployment, creating "blind flight" risks and high trial costs.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5763" y="3014663"/>
            <a:ext cx="5610225" cy="3457575"/>
          </a:xfrm>
          <a:custGeom>
            <a:avLst/>
            <a:gdLst/>
            <a:ahLst/>
            <a:cxnLst/>
            <a:rect r="r" b="b" t="t" l="l"/>
            <a:pathLst>
              <a:path h="3457575" w="5610225">
                <a:moveTo>
                  <a:pt x="114308" y="0"/>
                </a:moveTo>
                <a:lnTo>
                  <a:pt x="5495917" y="0"/>
                </a:lnTo>
                <a:cubicBezTo>
                  <a:pt x="5559048" y="0"/>
                  <a:pt x="5610225" y="51177"/>
                  <a:pt x="5610225" y="114308"/>
                </a:cubicBezTo>
                <a:lnTo>
                  <a:pt x="5610225" y="3343267"/>
                </a:lnTo>
                <a:cubicBezTo>
                  <a:pt x="5610225" y="3406398"/>
                  <a:pt x="5559048" y="3457575"/>
                  <a:pt x="5495917" y="3457575"/>
                </a:cubicBezTo>
                <a:lnTo>
                  <a:pt x="114308" y="3457575"/>
                </a:lnTo>
                <a:cubicBezTo>
                  <a:pt x="51177" y="3457575"/>
                  <a:pt x="0" y="3406398"/>
                  <a:pt x="0" y="33432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04838" y="324802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9150" y="32099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Manta's Solution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0075" y="36290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00075" y="36290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52445" y="3781425"/>
            <a:ext cx="152430" cy="152400"/>
          </a:xfrm>
          <a:custGeom>
            <a:avLst/>
            <a:gdLst/>
            <a:ahLst/>
            <a:cxnLst/>
            <a:rect r="r" b="b" t="t" l="l"/>
            <a:pathLst>
              <a:path h="152400" w="152430">
                <a:moveTo>
                  <a:pt x="152430" y="76200"/>
                </a:moveTo>
                <a:cubicBezTo>
                  <a:pt x="152430" y="76468"/>
                  <a:pt x="152430" y="76736"/>
                  <a:pt x="152430" y="77004"/>
                </a:cubicBezTo>
                <a:cubicBezTo>
                  <a:pt x="152311" y="87867"/>
                  <a:pt x="142429" y="95250"/>
                  <a:pt x="131564" y="95250"/>
                </a:cubicBezTo>
                <a:lnTo>
                  <a:pt x="102424" y="95250"/>
                </a:lnTo>
                <a:cubicBezTo>
                  <a:pt x="94536" y="95250"/>
                  <a:pt x="88136" y="101650"/>
                  <a:pt x="88136" y="109537"/>
                </a:cubicBezTo>
                <a:cubicBezTo>
                  <a:pt x="88136" y="110550"/>
                  <a:pt x="88256" y="111531"/>
                  <a:pt x="88433" y="112484"/>
                </a:cubicBezTo>
                <a:cubicBezTo>
                  <a:pt x="89060" y="115520"/>
                  <a:pt x="90369" y="118436"/>
                  <a:pt x="91649" y="121384"/>
                </a:cubicBezTo>
                <a:cubicBezTo>
                  <a:pt x="93464" y="125493"/>
                  <a:pt x="95250" y="129570"/>
                  <a:pt x="95250" y="133886"/>
                </a:cubicBezTo>
                <a:cubicBezTo>
                  <a:pt x="95250" y="143351"/>
                  <a:pt x="88821" y="151954"/>
                  <a:pt x="79355" y="152340"/>
                </a:cubicBezTo>
                <a:cubicBezTo>
                  <a:pt x="78314" y="152370"/>
                  <a:pt x="77271" y="152400"/>
                  <a:pt x="76200" y="152400"/>
                </a:cubicBezTo>
                <a:cubicBezTo>
                  <a:pt x="34112" y="152400"/>
                  <a:pt x="0" y="118289"/>
                  <a:pt x="0" y="76200"/>
                </a:cubicBezTo>
                <a:cubicBezTo>
                  <a:pt x="0" y="34111"/>
                  <a:pt x="34141" y="0"/>
                  <a:pt x="76230" y="0"/>
                </a:cubicBezTo>
                <a:cubicBezTo>
                  <a:pt x="118319" y="0"/>
                  <a:pt x="152430" y="34111"/>
                  <a:pt x="152430" y="76200"/>
                </a:cubicBezTo>
                <a:close/>
                <a:moveTo>
                  <a:pt x="38130" y="85725"/>
                </a:moveTo>
                <a:cubicBezTo>
                  <a:pt x="38130" y="80468"/>
                  <a:pt x="33862" y="76200"/>
                  <a:pt x="28605" y="76200"/>
                </a:cubicBezTo>
                <a:cubicBezTo>
                  <a:pt x="23348" y="76200"/>
                  <a:pt x="19080" y="80468"/>
                  <a:pt x="19080" y="85725"/>
                </a:cubicBezTo>
                <a:cubicBezTo>
                  <a:pt x="19080" y="90982"/>
                  <a:pt x="23348" y="95250"/>
                  <a:pt x="28605" y="95250"/>
                </a:cubicBezTo>
                <a:cubicBezTo>
                  <a:pt x="33862" y="95250"/>
                  <a:pt x="38130" y="90982"/>
                  <a:pt x="38130" y="85725"/>
                </a:cubicBezTo>
                <a:close/>
                <a:moveTo>
                  <a:pt x="38130" y="57150"/>
                </a:moveTo>
                <a:cubicBezTo>
                  <a:pt x="43387" y="57150"/>
                  <a:pt x="47655" y="52882"/>
                  <a:pt x="47655" y="47625"/>
                </a:cubicBezTo>
                <a:cubicBezTo>
                  <a:pt x="47655" y="42368"/>
                  <a:pt x="43387" y="38100"/>
                  <a:pt x="38130" y="38100"/>
                </a:cubicBezTo>
                <a:cubicBezTo>
                  <a:pt x="32873" y="38100"/>
                  <a:pt x="28605" y="42368"/>
                  <a:pt x="28605" y="47625"/>
                </a:cubicBezTo>
                <a:cubicBezTo>
                  <a:pt x="28605" y="52882"/>
                  <a:pt x="32873" y="57150"/>
                  <a:pt x="38130" y="57150"/>
                </a:cubicBezTo>
                <a:close/>
                <a:moveTo>
                  <a:pt x="85755" y="28575"/>
                </a:moveTo>
                <a:cubicBezTo>
                  <a:pt x="85755" y="23318"/>
                  <a:pt x="81487" y="19050"/>
                  <a:pt x="76230" y="19050"/>
                </a:cubicBezTo>
                <a:cubicBezTo>
                  <a:pt x="70973" y="19050"/>
                  <a:pt x="66705" y="23318"/>
                  <a:pt x="66705" y="28575"/>
                </a:cubicBezTo>
                <a:cubicBezTo>
                  <a:pt x="66705" y="33832"/>
                  <a:pt x="70973" y="38100"/>
                  <a:pt x="76230" y="38100"/>
                </a:cubicBezTo>
                <a:cubicBezTo>
                  <a:pt x="81487" y="38100"/>
                  <a:pt x="85755" y="33832"/>
                  <a:pt x="85755" y="28575"/>
                </a:cubicBezTo>
                <a:close/>
                <a:moveTo>
                  <a:pt x="114330" y="57150"/>
                </a:moveTo>
                <a:cubicBezTo>
                  <a:pt x="119587" y="57150"/>
                  <a:pt x="123855" y="52882"/>
                  <a:pt x="123855" y="47625"/>
                </a:cubicBezTo>
                <a:cubicBezTo>
                  <a:pt x="123855" y="42368"/>
                  <a:pt x="119587" y="38100"/>
                  <a:pt x="114330" y="38100"/>
                </a:cubicBezTo>
                <a:cubicBezTo>
                  <a:pt x="109073" y="38100"/>
                  <a:pt x="104805" y="42368"/>
                  <a:pt x="104805" y="47625"/>
                </a:cubicBezTo>
                <a:cubicBezTo>
                  <a:pt x="104805" y="52882"/>
                  <a:pt x="109073" y="57150"/>
                  <a:pt x="114330" y="5715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23925" y="3743325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Visual Strategy Orchestration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3425" y="4010025"/>
            <a:ext cx="5262563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Intuitive </a:t>
            </a: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visual workflow builder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— build complex strategies like building blocks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00075" y="44291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00075" y="44291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747712" y="4581525"/>
            <a:ext cx="157162" cy="152400"/>
          </a:xfrm>
          <a:custGeom>
            <a:avLst/>
            <a:gdLst/>
            <a:ahLst/>
            <a:cxnLst/>
            <a:rect r="r" b="b" t="t" l="l"/>
            <a:pathLst>
              <a:path h="152400" w="157162">
                <a:moveTo>
                  <a:pt x="80963" y="19050"/>
                </a:moveTo>
                <a:cubicBezTo>
                  <a:pt x="112515" y="19050"/>
                  <a:pt x="138113" y="44648"/>
                  <a:pt x="138113" y="76200"/>
                </a:cubicBezTo>
                <a:cubicBezTo>
                  <a:pt x="138113" y="107752"/>
                  <a:pt x="112515" y="133350"/>
                  <a:pt x="80963" y="133350"/>
                </a:cubicBezTo>
                <a:cubicBezTo>
                  <a:pt x="61556" y="133350"/>
                  <a:pt x="44381" y="123676"/>
                  <a:pt x="34052" y="108853"/>
                </a:cubicBezTo>
                <a:cubicBezTo>
                  <a:pt x="31046" y="104538"/>
                  <a:pt x="25093" y="103495"/>
                  <a:pt x="20776" y="106501"/>
                </a:cubicBezTo>
                <a:cubicBezTo>
                  <a:pt x="16461" y="109508"/>
                  <a:pt x="15420" y="115461"/>
                  <a:pt x="18424" y="119778"/>
                </a:cubicBezTo>
                <a:cubicBezTo>
                  <a:pt x="32177" y="139482"/>
                  <a:pt x="55066" y="152400"/>
                  <a:pt x="80963" y="152400"/>
                </a:cubicBezTo>
                <a:cubicBezTo>
                  <a:pt x="123052" y="152400"/>
                  <a:pt x="157163" y="118289"/>
                  <a:pt x="157163" y="76200"/>
                </a:cubicBezTo>
                <a:cubicBezTo>
                  <a:pt x="157163" y="34111"/>
                  <a:pt x="123052" y="0"/>
                  <a:pt x="80963" y="0"/>
                </a:cubicBezTo>
                <a:cubicBezTo>
                  <a:pt x="55454" y="0"/>
                  <a:pt x="32892" y="12531"/>
                  <a:pt x="19050" y="31760"/>
                </a:cubicBezTo>
                <a:lnTo>
                  <a:pt x="19050" y="23813"/>
                </a:lnTo>
                <a:cubicBezTo>
                  <a:pt x="19050" y="18545"/>
                  <a:pt x="14793" y="14287"/>
                  <a:pt x="9526" y="14287"/>
                </a:cubicBezTo>
                <a:cubicBezTo>
                  <a:pt x="4258" y="14287"/>
                  <a:pt x="0" y="18545"/>
                  <a:pt x="0" y="23813"/>
                </a:cubicBezTo>
                <a:lnTo>
                  <a:pt x="0" y="57150"/>
                </a:lnTo>
                <a:cubicBezTo>
                  <a:pt x="0" y="62419"/>
                  <a:pt x="4258" y="66675"/>
                  <a:pt x="9526" y="66675"/>
                </a:cubicBezTo>
                <a:lnTo>
                  <a:pt x="16848" y="66675"/>
                </a:lnTo>
                <a:cubicBezTo>
                  <a:pt x="16997" y="66675"/>
                  <a:pt x="17146" y="66675"/>
                  <a:pt x="17294" y="66675"/>
                </a:cubicBezTo>
                <a:lnTo>
                  <a:pt x="42893" y="66675"/>
                </a:lnTo>
                <a:cubicBezTo>
                  <a:pt x="48161" y="66675"/>
                  <a:pt x="52418" y="62419"/>
                  <a:pt x="52418" y="57150"/>
                </a:cubicBezTo>
                <a:cubicBezTo>
                  <a:pt x="52418" y="51881"/>
                  <a:pt x="48161" y="47625"/>
                  <a:pt x="42893" y="47625"/>
                </a:cubicBezTo>
                <a:lnTo>
                  <a:pt x="31493" y="47625"/>
                </a:lnTo>
                <a:cubicBezTo>
                  <a:pt x="41345" y="30540"/>
                  <a:pt x="59829" y="19050"/>
                  <a:pt x="80963" y="19050"/>
                </a:cubicBezTo>
                <a:close/>
                <a:moveTo>
                  <a:pt x="88107" y="45244"/>
                </a:moveTo>
                <a:cubicBezTo>
                  <a:pt x="88107" y="41285"/>
                  <a:pt x="84922" y="38100"/>
                  <a:pt x="80963" y="38100"/>
                </a:cubicBezTo>
                <a:cubicBezTo>
                  <a:pt x="77004" y="38100"/>
                  <a:pt x="73819" y="41285"/>
                  <a:pt x="73819" y="45244"/>
                </a:cubicBezTo>
                <a:lnTo>
                  <a:pt x="73819" y="76200"/>
                </a:lnTo>
                <a:cubicBezTo>
                  <a:pt x="73819" y="78105"/>
                  <a:pt x="74563" y="79921"/>
                  <a:pt x="75903" y="81260"/>
                </a:cubicBezTo>
                <a:lnTo>
                  <a:pt x="97335" y="102691"/>
                </a:lnTo>
                <a:cubicBezTo>
                  <a:pt x="100132" y="105489"/>
                  <a:pt x="104656" y="105489"/>
                  <a:pt x="107425" y="102691"/>
                </a:cubicBezTo>
                <a:cubicBezTo>
                  <a:pt x="110193" y="99893"/>
                  <a:pt x="110223" y="95369"/>
                  <a:pt x="107425" y="92601"/>
                </a:cubicBezTo>
                <a:lnTo>
                  <a:pt x="88078" y="73254"/>
                </a:lnTo>
                <a:lnTo>
                  <a:pt x="88078" y="45244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3925" y="4543425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Real-time Historical Backtesting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3425" y="4810125"/>
            <a:ext cx="5067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Time Machine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validates strategies with 1-3 years of market data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00075" y="52292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00075" y="52292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752475" y="5381625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7" y="92184"/>
                </a:cubicBezTo>
                <a:lnTo>
                  <a:pt x="111175" y="50839"/>
                </a:lnTo>
                <a:cubicBezTo>
                  <a:pt x="112931" y="47299"/>
                  <a:pt x="111502" y="43011"/>
                  <a:pt x="107989" y="41255"/>
                </a:cubicBezTo>
                <a:cubicBezTo>
                  <a:pt x="104477" y="39500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5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7" y="42863"/>
                </a:moveTo>
                <a:cubicBezTo>
                  <a:pt x="52387" y="37606"/>
                  <a:pt x="48119" y="33337"/>
                  <a:pt x="42863" y="33337"/>
                </a:cubicBezTo>
                <a:cubicBezTo>
                  <a:pt x="37606" y="33337"/>
                  <a:pt x="33337" y="37606"/>
                  <a:pt x="33337" y="42863"/>
                </a:cubicBezTo>
                <a:cubicBezTo>
                  <a:pt x="33337" y="48119"/>
                  <a:pt x="37606" y="52387"/>
                  <a:pt x="42863" y="52387"/>
                </a:cubicBezTo>
                <a:cubicBezTo>
                  <a:pt x="48119" y="52387"/>
                  <a:pt x="52387" y="48119"/>
                  <a:pt x="52387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23925" y="5343525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Instant Simulation Reports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3425" y="5610225"/>
            <a:ext cx="5019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Results in </a:t>
            </a:r>
            <a:r>
              <a:rPr lang="en-US" b="true" i="false" strike="noStrike" u="none" sz="11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seconds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— profit curves, risk assessment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196013" y="1338263"/>
            <a:ext cx="5610225" cy="3819525"/>
          </a:xfrm>
          <a:custGeom>
            <a:avLst/>
            <a:gdLst/>
            <a:ahLst/>
            <a:cxnLst/>
            <a:rect r="r" b="b" t="t" l="l"/>
            <a:pathLst>
              <a:path h="3819525" w="5610225">
                <a:moveTo>
                  <a:pt x="114318" y="0"/>
                </a:moveTo>
                <a:lnTo>
                  <a:pt x="5495907" y="0"/>
                </a:lnTo>
                <a:cubicBezTo>
                  <a:pt x="5559043" y="0"/>
                  <a:pt x="5610225" y="51182"/>
                  <a:pt x="5610225" y="114318"/>
                </a:cubicBezTo>
                <a:lnTo>
                  <a:pt x="5610225" y="3705207"/>
                </a:lnTo>
                <a:cubicBezTo>
                  <a:pt x="5610225" y="3768343"/>
                  <a:pt x="5559043" y="3819525"/>
                  <a:pt x="5495907" y="3819525"/>
                </a:cubicBezTo>
                <a:lnTo>
                  <a:pt x="114318" y="3819525"/>
                </a:lnTo>
                <a:cubicBezTo>
                  <a:pt x="51182" y="3819525"/>
                  <a:pt x="0" y="3768343"/>
                  <a:pt x="0" y="3705207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415088" y="1583531"/>
            <a:ext cx="190500" cy="166688"/>
          </a:xfrm>
          <a:custGeom>
            <a:avLst/>
            <a:gdLst/>
            <a:ahLst/>
            <a:cxnLst/>
            <a:rect r="r" b="b" t="t" l="l"/>
            <a:pathLst>
              <a:path h="166688" w="190500">
                <a:moveTo>
                  <a:pt x="11906" y="0"/>
                </a:moveTo>
                <a:cubicBezTo>
                  <a:pt x="18492" y="0"/>
                  <a:pt x="23812" y="5322"/>
                  <a:pt x="23812" y="11907"/>
                </a:cubicBezTo>
                <a:lnTo>
                  <a:pt x="23812" y="136921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178594" y="142875"/>
                </a:lnTo>
                <a:cubicBezTo>
                  <a:pt x="185179" y="142875"/>
                  <a:pt x="190500" y="148197"/>
                  <a:pt x="190500" y="154781"/>
                </a:cubicBezTo>
                <a:cubicBezTo>
                  <a:pt x="190500" y="161366"/>
                  <a:pt x="185179" y="166688"/>
                  <a:pt x="178594" y="166688"/>
                </a:cubicBezTo>
                <a:lnTo>
                  <a:pt x="29766" y="166688"/>
                </a:lnTo>
                <a:cubicBezTo>
                  <a:pt x="13320" y="166688"/>
                  <a:pt x="0" y="153368"/>
                  <a:pt x="0" y="136921"/>
                </a:cubicBezTo>
                <a:lnTo>
                  <a:pt x="0" y="11907"/>
                </a:lnTo>
                <a:cubicBezTo>
                  <a:pt x="0" y="5322"/>
                  <a:pt x="5321" y="0"/>
                  <a:pt x="11906" y="0"/>
                </a:cubicBezTo>
                <a:close/>
                <a:moveTo>
                  <a:pt x="47625" y="23813"/>
                </a:moveTo>
                <a:cubicBezTo>
                  <a:pt x="47625" y="17227"/>
                  <a:pt x="52946" y="11907"/>
                  <a:pt x="59531" y="11907"/>
                </a:cubicBezTo>
                <a:lnTo>
                  <a:pt x="130969" y="11907"/>
                </a:lnTo>
                <a:cubicBezTo>
                  <a:pt x="137554" y="11907"/>
                  <a:pt x="142875" y="17227"/>
                  <a:pt x="142875" y="23813"/>
                </a:cubicBezTo>
                <a:cubicBezTo>
                  <a:pt x="142875" y="30398"/>
                  <a:pt x="137554" y="35719"/>
                  <a:pt x="130969" y="35719"/>
                </a:cubicBezTo>
                <a:lnTo>
                  <a:pt x="59531" y="35719"/>
                </a:lnTo>
                <a:cubicBezTo>
                  <a:pt x="52946" y="35719"/>
                  <a:pt x="47625" y="30398"/>
                  <a:pt x="47625" y="23813"/>
                </a:cubicBezTo>
                <a:close/>
                <a:moveTo>
                  <a:pt x="59531" y="53578"/>
                </a:moveTo>
                <a:lnTo>
                  <a:pt x="107156" y="53578"/>
                </a:lnTo>
                <a:cubicBezTo>
                  <a:pt x="113742" y="53578"/>
                  <a:pt x="119062" y="58899"/>
                  <a:pt x="119062" y="65485"/>
                </a:cubicBezTo>
                <a:cubicBezTo>
                  <a:pt x="119062" y="72070"/>
                  <a:pt x="113742" y="77392"/>
                  <a:pt x="107156" y="77392"/>
                </a:cubicBezTo>
                <a:lnTo>
                  <a:pt x="59531" y="77392"/>
                </a:lnTo>
                <a:cubicBezTo>
                  <a:pt x="52946" y="77392"/>
                  <a:pt x="47625" y="72070"/>
                  <a:pt x="47625" y="65485"/>
                </a:cubicBezTo>
                <a:cubicBezTo>
                  <a:pt x="47625" y="58899"/>
                  <a:pt x="52946" y="53578"/>
                  <a:pt x="59531" y="53578"/>
                </a:cubicBezTo>
                <a:close/>
                <a:moveTo>
                  <a:pt x="59531" y="95250"/>
                </a:moveTo>
                <a:lnTo>
                  <a:pt x="154781" y="95250"/>
                </a:lnTo>
                <a:cubicBezTo>
                  <a:pt x="161367" y="95250"/>
                  <a:pt x="166688" y="100572"/>
                  <a:pt x="166688" y="107157"/>
                </a:cubicBezTo>
                <a:cubicBezTo>
                  <a:pt x="166688" y="113741"/>
                  <a:pt x="161367" y="119063"/>
                  <a:pt x="154781" y="119063"/>
                </a:cubicBezTo>
                <a:lnTo>
                  <a:pt x="59531" y="119063"/>
                </a:lnTo>
                <a:cubicBezTo>
                  <a:pt x="52946" y="119063"/>
                  <a:pt x="47625" y="113741"/>
                  <a:pt x="47625" y="107157"/>
                </a:cubicBezTo>
                <a:cubicBezTo>
                  <a:pt x="47625" y="100572"/>
                  <a:pt x="52946" y="95250"/>
                  <a:pt x="59531" y="9525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29400" y="15335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Competitive Advantage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91275" y="1985963"/>
            <a:ext cx="1581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Strategy Development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057209" y="1985963"/>
            <a:ext cx="4191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Days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10499675" y="2042160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747325" y="1952625"/>
            <a:ext cx="981075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Minutes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6391275" y="2324100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293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6391275" y="2324100"/>
            <a:ext cx="4695825" cy="114300"/>
          </a:xfrm>
          <a:custGeom>
            <a:avLst/>
            <a:gdLst/>
            <a:ahLst/>
            <a:cxnLst/>
            <a:rect r="r" b="b" t="t" l="l"/>
            <a:pathLst>
              <a:path h="114300" w="4695825">
                <a:moveTo>
                  <a:pt x="57150" y="0"/>
                </a:moveTo>
                <a:lnTo>
                  <a:pt x="4638675" y="0"/>
                </a:lnTo>
                <a:cubicBezTo>
                  <a:pt x="4670217" y="0"/>
                  <a:pt x="4695825" y="25608"/>
                  <a:pt x="4695825" y="57150"/>
                </a:cubicBezTo>
                <a:lnTo>
                  <a:pt x="4695825" y="57150"/>
                </a:lnTo>
                <a:cubicBezTo>
                  <a:pt x="4695825" y="88692"/>
                  <a:pt x="4670217" y="114300"/>
                  <a:pt x="4638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true">
            <a:gsLst>
              <a:gs pos="0">
                <a:srgbClr val="00D4A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391275" y="2476500"/>
            <a:ext cx="52863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Dramatically accelerated development cycle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391275" y="2852738"/>
            <a:ext cx="9048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Risk Control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433298" y="2819400"/>
            <a:ext cx="695325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1094244" y="2852738"/>
            <a:ext cx="5905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Verified</a:t>
            </a:r>
            <a:endParaRPr lang="en-US" sz="1100"/>
          </a:p>
        </p:txBody>
      </p:sp>
      <p:sp>
        <p:nvSpPr>
          <p:cNvPr name="Freeform 38" id="38"/>
          <p:cNvSpPr/>
          <p:nvPr/>
        </p:nvSpPr>
        <p:spPr>
          <a:xfrm rot="0" flipH="false" flipV="false">
            <a:off x="6391275" y="3190875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293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6391275" y="3190875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391275" y="3343275"/>
            <a:ext cx="52863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All strategies validated before deployment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391275" y="3719512"/>
            <a:ext cx="1724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Backtest Data Coverage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594181" y="3686175"/>
            <a:ext cx="1133475" cy="295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1-3 Years</a:t>
            </a:r>
            <a:endParaRPr lang="en-US" sz="1100"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6391275" y="4057650"/>
            <a:ext cx="5219700" cy="114300"/>
          </a:xfrm>
          <a:custGeom>
            <a:avLst/>
            <a:gdLst/>
            <a:ahLst/>
            <a:cxnLst/>
            <a:rect r="r" b="b" t="t" l="l"/>
            <a:pathLst>
              <a:path h="114300" w="5219700">
                <a:moveTo>
                  <a:pt x="57150" y="0"/>
                </a:moveTo>
                <a:lnTo>
                  <a:pt x="5162550" y="0"/>
                </a:lnTo>
                <a:cubicBezTo>
                  <a:pt x="5194092" y="0"/>
                  <a:pt x="5219700" y="25608"/>
                  <a:pt x="5219700" y="57150"/>
                </a:cubicBezTo>
                <a:lnTo>
                  <a:pt x="5219700" y="57150"/>
                </a:lnTo>
                <a:cubicBezTo>
                  <a:pt x="5219700" y="88692"/>
                  <a:pt x="5194092" y="114300"/>
                  <a:pt x="5162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293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4" id="44"/>
          <p:cNvSpPr/>
          <p:nvPr/>
        </p:nvSpPr>
        <p:spPr>
          <a:xfrm rot="0" flipH="false" flipV="false">
            <a:off x="6391275" y="4057650"/>
            <a:ext cx="4438650" cy="114300"/>
          </a:xfrm>
          <a:custGeom>
            <a:avLst/>
            <a:gdLst/>
            <a:ahLst/>
            <a:cxnLst/>
            <a:rect r="r" b="b" t="t" l="l"/>
            <a:pathLst>
              <a:path h="114300" w="4438650">
                <a:moveTo>
                  <a:pt x="57150" y="0"/>
                </a:moveTo>
                <a:lnTo>
                  <a:pt x="4381500" y="0"/>
                </a:lnTo>
                <a:cubicBezTo>
                  <a:pt x="4413042" y="0"/>
                  <a:pt x="4438650" y="25608"/>
                  <a:pt x="4438650" y="57150"/>
                </a:cubicBezTo>
                <a:lnTo>
                  <a:pt x="4438650" y="57150"/>
                </a:lnTo>
                <a:cubicBezTo>
                  <a:pt x="4438650" y="88692"/>
                  <a:pt x="4413042" y="114300"/>
                  <a:pt x="43815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391275" y="4210050"/>
            <a:ext cx="52863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Real market data (price, weather, load)</a:t>
            </a:r>
            <a:endParaRPr lang="en-US" sz="1100"/>
          </a:p>
        </p:txBody>
      </p:sp>
      <p:sp>
        <p:nvSpPr>
          <p:cNvPr name="Freeform 46" id="46"/>
          <p:cNvSpPr/>
          <p:nvPr/>
        </p:nvSpPr>
        <p:spPr>
          <a:xfrm rot="0" flipH="false" flipV="false">
            <a:off x="6196013" y="5319713"/>
            <a:ext cx="5610225" cy="1152525"/>
          </a:xfrm>
          <a:custGeom>
            <a:avLst/>
            <a:gdLst/>
            <a:ahLst/>
            <a:cxnLst/>
            <a:rect r="r" b="b" t="t" l="l"/>
            <a:pathLst>
              <a:path h="1152525" w="56102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1038229"/>
                </a:lnTo>
                <a:cubicBezTo>
                  <a:pt x="5610225" y="1101353"/>
                  <a:pt x="5559053" y="1152525"/>
                  <a:pt x="549592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7" id="47"/>
          <p:cNvSpPr/>
          <p:nvPr/>
        </p:nvSpPr>
        <p:spPr>
          <a:xfrm rot="0" flipH="false" flipV="false">
            <a:off x="6400800" y="5514975"/>
            <a:ext cx="142875" cy="196452"/>
          </a:xfrm>
          <a:custGeom>
            <a:avLst/>
            <a:gdLst/>
            <a:ahLst/>
            <a:cxnLst/>
            <a:rect r="r" b="b" t="t" l="l"/>
            <a:pathLst>
              <a:path h="196452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7"/>
                  <a:pt x="142875" y="71437"/>
                </a:cubicBezTo>
                <a:cubicBezTo>
                  <a:pt x="142875" y="31998"/>
                  <a:pt x="110877" y="0"/>
                  <a:pt x="71438" y="0"/>
                </a:cubicBezTo>
                <a:cubicBezTo>
                  <a:pt x="31998" y="0"/>
                  <a:pt x="0" y="31998"/>
                  <a:pt x="0" y="71437"/>
                </a:cubicBezTo>
                <a:cubicBezTo>
                  <a:pt x="0" y="90487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7"/>
                </a:lnTo>
                <a:cubicBezTo>
                  <a:pt x="35719" y="183133"/>
                  <a:pt x="49039" y="196452"/>
                  <a:pt x="65484" y="196452"/>
                </a:cubicBezTo>
                <a:lnTo>
                  <a:pt x="77391" y="196452"/>
                </a:lnTo>
                <a:cubicBezTo>
                  <a:pt x="93836" y="196452"/>
                  <a:pt x="107156" y="183133"/>
                  <a:pt x="107156" y="166687"/>
                </a:cubicBezTo>
                <a:lnTo>
                  <a:pt x="107156" y="160734"/>
                </a:lnTo>
                <a:close/>
                <a:moveTo>
                  <a:pt x="68461" y="41673"/>
                </a:moveTo>
                <a:cubicBezTo>
                  <a:pt x="53652" y="41673"/>
                  <a:pt x="41673" y="53652"/>
                  <a:pt x="41673" y="68461"/>
                </a:cubicBezTo>
                <a:cubicBezTo>
                  <a:pt x="41673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3"/>
                  <a:pt x="68461" y="23813"/>
                </a:cubicBezTo>
                <a:cubicBezTo>
                  <a:pt x="73409" y="23813"/>
                  <a:pt x="77391" y="27794"/>
                  <a:pt x="77391" y="32742"/>
                </a:cubicBezTo>
                <a:cubicBezTo>
                  <a:pt x="77391" y="37691"/>
                  <a:pt x="73409" y="41673"/>
                  <a:pt x="68461" y="41673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705600" y="5476875"/>
            <a:ext cx="1724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Innovation Value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6353175" y="5819775"/>
            <a:ext cx="53721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Strategy development evolves from "handcrafting" to "smart manufacturing". </a:t>
            </a:r>
            <a:r>
              <a:rPr lang="en-US" b="true" i="false" strike="noStrike" u="none" sz="1200">
                <a:solidFill>
                  <a:srgbClr val="3B82F6"/>
                </a:solidFill>
                <a:latin typeface="MiSans"/>
                <a:ea typeface="MiSans"/>
                <a:cs typeface="MiSans"/>
                <a:sym typeface="MiSans"/>
              </a:rPr>
              <a:t>Business users build complex strategies without coding</a:t>
            </a: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.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819150" y="1533525"/>
            <a:ext cx="50768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Pain Points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0E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64770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AI-Driven Dynamic Optimization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5763" y="1338263"/>
            <a:ext cx="5610225" cy="1514475"/>
          </a:xfrm>
          <a:custGeom>
            <a:avLst/>
            <a:gdLst/>
            <a:ahLst/>
            <a:cxnLst/>
            <a:rect r="r" b="b" t="t" l="l"/>
            <a:pathLst>
              <a:path h="1514475" w="561022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400178"/>
                </a:lnTo>
                <a:cubicBezTo>
                  <a:pt x="5610225" y="1463260"/>
                  <a:pt x="5559010" y="1514475"/>
                  <a:pt x="549592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604131" y="1571625"/>
            <a:ext cx="191915" cy="178594"/>
          </a:xfrm>
          <a:custGeom>
            <a:avLst/>
            <a:gdLst/>
            <a:ahLst/>
            <a:cxnLst/>
            <a:rect r="r" b="b" t="t" l="l"/>
            <a:pathLst>
              <a:path h="178594" w="191915">
                <a:moveTo>
                  <a:pt x="95957" y="0"/>
                </a:moveTo>
                <a:cubicBezTo>
                  <a:pt x="101426" y="0"/>
                  <a:pt x="106448" y="3014"/>
                  <a:pt x="109055" y="7813"/>
                </a:cubicBezTo>
                <a:lnTo>
                  <a:pt x="189421" y="156642"/>
                </a:lnTo>
                <a:cubicBezTo>
                  <a:pt x="191914" y="161254"/>
                  <a:pt x="191803" y="166836"/>
                  <a:pt x="189123" y="171338"/>
                </a:cubicBezTo>
                <a:cubicBezTo>
                  <a:pt x="186445" y="175840"/>
                  <a:pt x="181570" y="178594"/>
                  <a:pt x="176324" y="178594"/>
                </a:cubicBezTo>
                <a:lnTo>
                  <a:pt x="15590" y="178594"/>
                </a:lnTo>
                <a:cubicBezTo>
                  <a:pt x="10344" y="178594"/>
                  <a:pt x="5508" y="175840"/>
                  <a:pt x="2791" y="171338"/>
                </a:cubicBezTo>
                <a:cubicBezTo>
                  <a:pt x="75" y="166836"/>
                  <a:pt x="0" y="161254"/>
                  <a:pt x="2493" y="156642"/>
                </a:cubicBezTo>
                <a:lnTo>
                  <a:pt x="82859" y="7813"/>
                </a:lnTo>
                <a:cubicBezTo>
                  <a:pt x="85466" y="3014"/>
                  <a:pt x="90488" y="0"/>
                  <a:pt x="95957" y="0"/>
                </a:cubicBezTo>
                <a:close/>
                <a:moveTo>
                  <a:pt x="95957" y="62508"/>
                </a:moveTo>
                <a:cubicBezTo>
                  <a:pt x="91008" y="62508"/>
                  <a:pt x="87028" y="66490"/>
                  <a:pt x="87028" y="71437"/>
                </a:cubicBezTo>
                <a:lnTo>
                  <a:pt x="87028" y="113109"/>
                </a:lnTo>
                <a:cubicBezTo>
                  <a:pt x="87028" y="118058"/>
                  <a:pt x="91008" y="122039"/>
                  <a:pt x="95957" y="122039"/>
                </a:cubicBezTo>
                <a:cubicBezTo>
                  <a:pt x="100906" y="122039"/>
                  <a:pt x="104886" y="118058"/>
                  <a:pt x="104886" y="113109"/>
                </a:cubicBezTo>
                <a:lnTo>
                  <a:pt x="104886" y="71437"/>
                </a:lnTo>
                <a:cubicBezTo>
                  <a:pt x="104886" y="66490"/>
                  <a:pt x="100906" y="62508"/>
                  <a:pt x="95957" y="62508"/>
                </a:cubicBezTo>
                <a:close/>
                <a:moveTo>
                  <a:pt x="105891" y="142875"/>
                </a:moveTo>
                <a:cubicBezTo>
                  <a:pt x="106117" y="139188"/>
                  <a:pt x="104278" y="135679"/>
                  <a:pt x="101117" y="133767"/>
                </a:cubicBezTo>
                <a:cubicBezTo>
                  <a:pt x="97956" y="131855"/>
                  <a:pt x="93995" y="131855"/>
                  <a:pt x="90834" y="133767"/>
                </a:cubicBezTo>
                <a:cubicBezTo>
                  <a:pt x="87673" y="135679"/>
                  <a:pt x="85834" y="139188"/>
                  <a:pt x="86060" y="142875"/>
                </a:cubicBezTo>
                <a:cubicBezTo>
                  <a:pt x="85834" y="146562"/>
                  <a:pt x="87673" y="150071"/>
                  <a:pt x="90834" y="151983"/>
                </a:cubicBezTo>
                <a:cubicBezTo>
                  <a:pt x="93995" y="153895"/>
                  <a:pt x="97956" y="153895"/>
                  <a:pt x="101117" y="151983"/>
                </a:cubicBezTo>
                <a:cubicBezTo>
                  <a:pt x="104278" y="150071"/>
                  <a:pt x="106117" y="146562"/>
                  <a:pt x="105891" y="142875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9150" y="15335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Pain Points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1025" y="1914525"/>
            <a:ext cx="5295900" cy="742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Traditional VPP strategies remain </a:t>
            </a:r>
            <a:r>
              <a:rPr lang="en-US" b="false" i="false" strike="noStrike" u="none" sz="12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static and rigid</a:t>
            </a: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, unable to adapt to market evolution. Single-strategy approaches create blind spots and limit revenue potential.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5763" y="3014663"/>
            <a:ext cx="5610225" cy="3457575"/>
          </a:xfrm>
          <a:custGeom>
            <a:avLst/>
            <a:gdLst/>
            <a:ahLst/>
            <a:cxnLst/>
            <a:rect r="r" b="b" t="t" l="l"/>
            <a:pathLst>
              <a:path h="3457575" w="5610225">
                <a:moveTo>
                  <a:pt x="114308" y="0"/>
                </a:moveTo>
                <a:lnTo>
                  <a:pt x="5495917" y="0"/>
                </a:lnTo>
                <a:cubicBezTo>
                  <a:pt x="5559048" y="0"/>
                  <a:pt x="5610225" y="51177"/>
                  <a:pt x="5610225" y="114308"/>
                </a:cubicBezTo>
                <a:lnTo>
                  <a:pt x="5610225" y="3343267"/>
                </a:lnTo>
                <a:cubicBezTo>
                  <a:pt x="5610225" y="3406398"/>
                  <a:pt x="5559048" y="3457575"/>
                  <a:pt x="5495917" y="3457575"/>
                </a:cubicBezTo>
                <a:lnTo>
                  <a:pt x="114308" y="3457575"/>
                </a:lnTo>
                <a:cubicBezTo>
                  <a:pt x="51177" y="3457575"/>
                  <a:pt x="0" y="3406398"/>
                  <a:pt x="0" y="334326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04838" y="324802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9150" y="3209925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Manta's AI Solution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0075" y="36290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00075" y="44291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00075" y="44291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00075" y="5229225"/>
            <a:ext cx="5200650" cy="685800"/>
          </a:xfrm>
          <a:custGeom>
            <a:avLst/>
            <a:gdLst/>
            <a:ahLst/>
            <a:cxnLst/>
            <a:rect r="r" b="b" t="t" l="l"/>
            <a:pathLst>
              <a:path h="685800" w="52006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00075" y="5229225"/>
            <a:ext cx="38100" cy="685800"/>
          </a:xfrm>
          <a:custGeom>
            <a:avLst/>
            <a:gdLst/>
            <a:ahLst/>
            <a:cxnLst/>
            <a:rect r="r" b="b" t="t" l="l"/>
            <a:pathLst>
              <a:path h="685800" w="381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3" y="685800"/>
                  <a:pt x="0" y="668727"/>
                  <a:pt x="0" y="6477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00D4A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196013" y="1338263"/>
            <a:ext cx="5610225" cy="3819525"/>
          </a:xfrm>
          <a:custGeom>
            <a:avLst/>
            <a:gdLst/>
            <a:ahLst/>
            <a:cxnLst/>
            <a:rect r="r" b="b" t="t" l="l"/>
            <a:pathLst>
              <a:path h="3819525" w="5610225">
                <a:moveTo>
                  <a:pt x="114318" y="0"/>
                </a:moveTo>
                <a:lnTo>
                  <a:pt x="5495907" y="0"/>
                </a:lnTo>
                <a:cubicBezTo>
                  <a:pt x="5559043" y="0"/>
                  <a:pt x="5610225" y="51182"/>
                  <a:pt x="5610225" y="114318"/>
                </a:cubicBezTo>
                <a:lnTo>
                  <a:pt x="5610225" y="3705207"/>
                </a:lnTo>
                <a:cubicBezTo>
                  <a:pt x="5610225" y="3768343"/>
                  <a:pt x="5559043" y="3819525"/>
                  <a:pt x="5495907" y="3819525"/>
                </a:cubicBezTo>
                <a:lnTo>
                  <a:pt x="114318" y="3819525"/>
                </a:lnTo>
                <a:cubicBezTo>
                  <a:pt x="51182" y="3819525"/>
                  <a:pt x="0" y="3768343"/>
                  <a:pt x="0" y="3705207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767309" y="3747961"/>
            <a:ext cx="121945" cy="138176"/>
          </a:xfrm>
          <a:custGeom>
            <a:avLst/>
            <a:gdLst/>
            <a:ahLst/>
            <a:cxnLst/>
            <a:rect r="r" b="b" t="t" l="l"/>
            <a:pathLst>
              <a:path h="138176" w="121945">
                <a:moveTo>
                  <a:pt x="34569" y="22352"/>
                </a:moveTo>
                <a:lnTo>
                  <a:pt x="34569" y="32512"/>
                </a:lnTo>
                <a:lnTo>
                  <a:pt x="14732" y="32512"/>
                </a:lnTo>
                <a:cubicBezTo>
                  <a:pt x="11099" y="32512"/>
                  <a:pt x="8153" y="35458"/>
                  <a:pt x="8153" y="39091"/>
                </a:cubicBezTo>
                <a:cubicBezTo>
                  <a:pt x="8153" y="40107"/>
                  <a:pt x="8382" y="41123"/>
                  <a:pt x="8839" y="42037"/>
                </a:cubicBezTo>
                <a:lnTo>
                  <a:pt x="17322" y="59004"/>
                </a:lnTo>
                <a:cubicBezTo>
                  <a:pt x="14427" y="59461"/>
                  <a:pt x="12192" y="61976"/>
                  <a:pt x="12192" y="65024"/>
                </a:cubicBezTo>
                <a:cubicBezTo>
                  <a:pt x="12192" y="68402"/>
                  <a:pt x="14909" y="71120"/>
                  <a:pt x="18288" y="71120"/>
                </a:cubicBezTo>
                <a:lnTo>
                  <a:pt x="19710" y="71120"/>
                </a:lnTo>
                <a:lnTo>
                  <a:pt x="16256" y="105664"/>
                </a:lnTo>
                <a:lnTo>
                  <a:pt x="1981" y="123520"/>
                </a:lnTo>
                <a:cubicBezTo>
                  <a:pt x="711" y="125120"/>
                  <a:pt x="0" y="127102"/>
                  <a:pt x="0" y="129159"/>
                </a:cubicBezTo>
                <a:cubicBezTo>
                  <a:pt x="0" y="134137"/>
                  <a:pt x="4038" y="138176"/>
                  <a:pt x="9017" y="138176"/>
                </a:cubicBezTo>
                <a:lnTo>
                  <a:pt x="72237" y="138176"/>
                </a:lnTo>
                <a:cubicBezTo>
                  <a:pt x="77216" y="138176"/>
                  <a:pt x="81254" y="134137"/>
                  <a:pt x="81254" y="129159"/>
                </a:cubicBezTo>
                <a:cubicBezTo>
                  <a:pt x="81254" y="127102"/>
                  <a:pt x="80568" y="125120"/>
                  <a:pt x="79273" y="123520"/>
                </a:cubicBezTo>
                <a:lnTo>
                  <a:pt x="65049" y="105664"/>
                </a:lnTo>
                <a:lnTo>
                  <a:pt x="61595" y="71120"/>
                </a:lnTo>
                <a:lnTo>
                  <a:pt x="63017" y="71120"/>
                </a:lnTo>
                <a:cubicBezTo>
                  <a:pt x="66395" y="71120"/>
                  <a:pt x="69113" y="68402"/>
                  <a:pt x="69113" y="65024"/>
                </a:cubicBezTo>
                <a:cubicBezTo>
                  <a:pt x="69113" y="62001"/>
                  <a:pt x="66903" y="59461"/>
                  <a:pt x="63982" y="59004"/>
                </a:cubicBezTo>
                <a:lnTo>
                  <a:pt x="72466" y="42037"/>
                </a:lnTo>
                <a:cubicBezTo>
                  <a:pt x="72923" y="41123"/>
                  <a:pt x="73152" y="40107"/>
                  <a:pt x="73152" y="39091"/>
                </a:cubicBezTo>
                <a:cubicBezTo>
                  <a:pt x="73152" y="35458"/>
                  <a:pt x="70205" y="32512"/>
                  <a:pt x="66573" y="32512"/>
                </a:cubicBezTo>
                <a:lnTo>
                  <a:pt x="46736" y="32512"/>
                </a:lnTo>
                <a:lnTo>
                  <a:pt x="46736" y="22352"/>
                </a:lnTo>
                <a:lnTo>
                  <a:pt x="50800" y="22352"/>
                </a:lnTo>
                <a:cubicBezTo>
                  <a:pt x="54178" y="22352"/>
                  <a:pt x="56896" y="19634"/>
                  <a:pt x="56896" y="16256"/>
                </a:cubicBezTo>
                <a:cubicBezTo>
                  <a:pt x="56896" y="12878"/>
                  <a:pt x="54203" y="10160"/>
                  <a:pt x="50825" y="10160"/>
                </a:cubicBezTo>
                <a:lnTo>
                  <a:pt x="46761" y="10160"/>
                </a:lnTo>
                <a:lnTo>
                  <a:pt x="46761" y="6096"/>
                </a:lnTo>
                <a:cubicBezTo>
                  <a:pt x="46761" y="2718"/>
                  <a:pt x="44043" y="0"/>
                  <a:pt x="40665" y="0"/>
                </a:cubicBezTo>
                <a:cubicBezTo>
                  <a:pt x="37287" y="0"/>
                  <a:pt x="34569" y="2718"/>
                  <a:pt x="34569" y="6096"/>
                </a:cubicBezTo>
                <a:lnTo>
                  <a:pt x="34569" y="10160"/>
                </a:lnTo>
                <a:lnTo>
                  <a:pt x="30505" y="10160"/>
                </a:lnTo>
                <a:cubicBezTo>
                  <a:pt x="27127" y="10160"/>
                  <a:pt x="24409" y="12878"/>
                  <a:pt x="24409" y="16256"/>
                </a:cubicBezTo>
                <a:cubicBezTo>
                  <a:pt x="24409" y="19634"/>
                  <a:pt x="27127" y="22352"/>
                  <a:pt x="30505" y="22352"/>
                </a:cubicBezTo>
                <a:lnTo>
                  <a:pt x="34569" y="22352"/>
                </a:lnTo>
                <a:close/>
                <a:moveTo>
                  <a:pt x="74650" y="79146"/>
                </a:moveTo>
                <a:lnTo>
                  <a:pt x="76809" y="100863"/>
                </a:lnTo>
                <a:lnTo>
                  <a:pt x="88849" y="115900"/>
                </a:lnTo>
                <a:lnTo>
                  <a:pt x="89916" y="117348"/>
                </a:lnTo>
                <a:cubicBezTo>
                  <a:pt x="92252" y="120828"/>
                  <a:pt x="93497" y="124943"/>
                  <a:pt x="93497" y="129159"/>
                </a:cubicBezTo>
                <a:cubicBezTo>
                  <a:pt x="93497" y="132385"/>
                  <a:pt x="92786" y="135458"/>
                  <a:pt x="91490" y="138176"/>
                </a:cubicBezTo>
                <a:lnTo>
                  <a:pt x="112598" y="138176"/>
                </a:lnTo>
                <a:cubicBezTo>
                  <a:pt x="117754" y="138176"/>
                  <a:pt x="121945" y="133985"/>
                  <a:pt x="121945" y="128829"/>
                </a:cubicBezTo>
                <a:cubicBezTo>
                  <a:pt x="121945" y="126975"/>
                  <a:pt x="121386" y="125171"/>
                  <a:pt x="120370" y="123647"/>
                </a:cubicBezTo>
                <a:lnTo>
                  <a:pt x="113817" y="113817"/>
                </a:lnTo>
                <a:lnTo>
                  <a:pt x="113817" y="97561"/>
                </a:lnTo>
                <a:lnTo>
                  <a:pt x="117195" y="94183"/>
                </a:lnTo>
                <a:cubicBezTo>
                  <a:pt x="120243" y="91135"/>
                  <a:pt x="121945" y="86995"/>
                  <a:pt x="121945" y="82677"/>
                </a:cubicBezTo>
                <a:lnTo>
                  <a:pt x="121945" y="56896"/>
                </a:lnTo>
                <a:cubicBezTo>
                  <a:pt x="121945" y="52400"/>
                  <a:pt x="118313" y="48768"/>
                  <a:pt x="113817" y="48768"/>
                </a:cubicBezTo>
                <a:cubicBezTo>
                  <a:pt x="109321" y="48768"/>
                  <a:pt x="105689" y="52400"/>
                  <a:pt x="105689" y="56896"/>
                </a:cubicBezTo>
                <a:lnTo>
                  <a:pt x="105689" y="60960"/>
                </a:lnTo>
                <a:lnTo>
                  <a:pt x="97561" y="60960"/>
                </a:lnTo>
                <a:lnTo>
                  <a:pt x="97561" y="56896"/>
                </a:lnTo>
                <a:cubicBezTo>
                  <a:pt x="97561" y="52400"/>
                  <a:pt x="93929" y="48768"/>
                  <a:pt x="89433" y="48768"/>
                </a:cubicBezTo>
                <a:cubicBezTo>
                  <a:pt x="84937" y="48768"/>
                  <a:pt x="81305" y="52400"/>
                  <a:pt x="81305" y="56896"/>
                </a:cubicBezTo>
                <a:lnTo>
                  <a:pt x="81305" y="65024"/>
                </a:lnTo>
                <a:cubicBezTo>
                  <a:pt x="81305" y="70714"/>
                  <a:pt x="78714" y="75794"/>
                  <a:pt x="74650" y="79146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8022" y="3719513"/>
            <a:ext cx="6480048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Model Arena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2950" y="4076700"/>
            <a:ext cx="5177536" cy="162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Support for </a:t>
            </a: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third-party Python/Docker algorithms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— break vendor lock-in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750900" y="4544278"/>
            <a:ext cx="130581" cy="186981"/>
          </a:xfrm>
          <a:custGeom>
            <a:avLst/>
            <a:gdLst/>
            <a:ahLst/>
            <a:cxnLst/>
            <a:rect r="r" b="b" t="t" l="l"/>
            <a:pathLst>
              <a:path h="186981" w="130581">
                <a:moveTo>
                  <a:pt x="36830" y="36"/>
                </a:moveTo>
                <a:lnTo>
                  <a:pt x="93726" y="36"/>
                </a:lnTo>
                <a:cubicBezTo>
                  <a:pt x="100457" y="36"/>
                  <a:pt x="105944" y="7996"/>
                  <a:pt x="105690" y="17636"/>
                </a:cubicBezTo>
                <a:cubicBezTo>
                  <a:pt x="105639" y="19571"/>
                  <a:pt x="105588" y="21506"/>
                  <a:pt x="105512" y="23404"/>
                </a:cubicBezTo>
                <a:lnTo>
                  <a:pt x="118110" y="23404"/>
                </a:lnTo>
                <a:cubicBezTo>
                  <a:pt x="124740" y="23404"/>
                  <a:pt x="130582" y="31291"/>
                  <a:pt x="130074" y="41588"/>
                </a:cubicBezTo>
                <a:cubicBezTo>
                  <a:pt x="128169" y="79451"/>
                  <a:pt x="114707" y="100263"/>
                  <a:pt x="100102" y="111144"/>
                </a:cubicBezTo>
                <a:cubicBezTo>
                  <a:pt x="96088" y="114138"/>
                  <a:pt x="91999" y="116365"/>
                  <a:pt x="88113" y="118008"/>
                </a:cubicBezTo>
                <a:cubicBezTo>
                  <a:pt x="82982" y="128451"/>
                  <a:pt x="77648" y="133964"/>
                  <a:pt x="73406" y="136922"/>
                </a:cubicBezTo>
                <a:lnTo>
                  <a:pt x="73406" y="163612"/>
                </a:lnTo>
                <a:lnTo>
                  <a:pt x="89662" y="163612"/>
                </a:lnTo>
                <a:cubicBezTo>
                  <a:pt x="94158" y="163612"/>
                  <a:pt x="97790" y="168834"/>
                  <a:pt x="97790" y="175296"/>
                </a:cubicBezTo>
                <a:cubicBezTo>
                  <a:pt x="97790" y="181759"/>
                  <a:pt x="94158" y="186980"/>
                  <a:pt x="89662" y="186980"/>
                </a:cubicBezTo>
                <a:lnTo>
                  <a:pt x="40894" y="186980"/>
                </a:lnTo>
                <a:cubicBezTo>
                  <a:pt x="36398" y="186980"/>
                  <a:pt x="32766" y="181759"/>
                  <a:pt x="32766" y="175296"/>
                </a:cubicBezTo>
                <a:cubicBezTo>
                  <a:pt x="32766" y="168834"/>
                  <a:pt x="36398" y="163612"/>
                  <a:pt x="40894" y="163612"/>
                </a:cubicBezTo>
                <a:lnTo>
                  <a:pt x="57150" y="163612"/>
                </a:lnTo>
                <a:lnTo>
                  <a:pt x="57150" y="136922"/>
                </a:lnTo>
                <a:cubicBezTo>
                  <a:pt x="53086" y="134110"/>
                  <a:pt x="48032" y="128889"/>
                  <a:pt x="43104" y="119286"/>
                </a:cubicBezTo>
                <a:cubicBezTo>
                  <a:pt x="38430" y="117534"/>
                  <a:pt x="33350" y="114868"/>
                  <a:pt x="28397" y="110852"/>
                </a:cubicBezTo>
                <a:cubicBezTo>
                  <a:pt x="14656" y="99789"/>
                  <a:pt x="2261" y="78940"/>
                  <a:pt x="483" y="41515"/>
                </a:cubicBezTo>
                <a:cubicBezTo>
                  <a:pt x="0" y="31255"/>
                  <a:pt x="5817" y="23368"/>
                  <a:pt x="12446" y="23368"/>
                </a:cubicBezTo>
                <a:lnTo>
                  <a:pt x="25045" y="23368"/>
                </a:lnTo>
                <a:cubicBezTo>
                  <a:pt x="24968" y="21469"/>
                  <a:pt x="24918" y="19571"/>
                  <a:pt x="24867" y="17599"/>
                </a:cubicBezTo>
                <a:cubicBezTo>
                  <a:pt x="24613" y="7923"/>
                  <a:pt x="30099" y="0"/>
                  <a:pt x="36830" y="0"/>
                </a:cubicBezTo>
                <a:close/>
                <a:moveTo>
                  <a:pt x="25959" y="40930"/>
                </a:moveTo>
                <a:lnTo>
                  <a:pt x="12649" y="40930"/>
                </a:lnTo>
                <a:cubicBezTo>
                  <a:pt x="14224" y="71857"/>
                  <a:pt x="24105" y="87338"/>
                  <a:pt x="34290" y="95553"/>
                </a:cubicBezTo>
                <a:cubicBezTo>
                  <a:pt x="30633" y="81934"/>
                  <a:pt x="27610" y="64152"/>
                  <a:pt x="25959" y="40930"/>
                </a:cubicBezTo>
                <a:close/>
                <a:moveTo>
                  <a:pt x="96698" y="93801"/>
                </a:moveTo>
                <a:cubicBezTo>
                  <a:pt x="106985" y="85111"/>
                  <a:pt x="116281" y="69666"/>
                  <a:pt x="117856" y="40930"/>
                </a:cubicBezTo>
                <a:lnTo>
                  <a:pt x="104572" y="40930"/>
                </a:lnTo>
                <a:cubicBezTo>
                  <a:pt x="102997" y="63167"/>
                  <a:pt x="100152" y="80437"/>
                  <a:pt x="96698" y="93801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23925" y="4466082"/>
            <a:ext cx="5200650" cy="2594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Dynamic Selection &amp; Racing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2950" y="4850765"/>
            <a:ext cx="5153025" cy="162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Real-time parallel execution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— auto-switch to optimal strategy based on Revenue/MW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759206" y="5385460"/>
            <a:ext cx="130048" cy="131013"/>
          </a:xfrm>
          <a:custGeom>
            <a:avLst/>
            <a:gdLst/>
            <a:ahLst/>
            <a:cxnLst/>
            <a:rect r="r" b="b" t="t" l="l"/>
            <a:pathLst>
              <a:path h="131013" w="130048">
                <a:moveTo>
                  <a:pt x="121945" y="49251"/>
                </a:moveTo>
                <a:lnTo>
                  <a:pt x="123952" y="49251"/>
                </a:lnTo>
                <a:cubicBezTo>
                  <a:pt x="127330" y="49251"/>
                  <a:pt x="130048" y="46533"/>
                  <a:pt x="130048" y="43155"/>
                </a:cubicBezTo>
                <a:lnTo>
                  <a:pt x="130048" y="6579"/>
                </a:lnTo>
                <a:cubicBezTo>
                  <a:pt x="130048" y="4115"/>
                  <a:pt x="128575" y="1880"/>
                  <a:pt x="126289" y="940"/>
                </a:cubicBezTo>
                <a:cubicBezTo>
                  <a:pt x="124003" y="0"/>
                  <a:pt x="121387" y="534"/>
                  <a:pt x="119634" y="2261"/>
                </a:cubicBezTo>
                <a:lnTo>
                  <a:pt x="106502" y="15418"/>
                </a:lnTo>
                <a:cubicBezTo>
                  <a:pt x="95250" y="6096"/>
                  <a:pt x="80772" y="483"/>
                  <a:pt x="65024" y="483"/>
                </a:cubicBezTo>
                <a:cubicBezTo>
                  <a:pt x="32258" y="483"/>
                  <a:pt x="5156" y="24715"/>
                  <a:pt x="660" y="56236"/>
                </a:cubicBezTo>
                <a:cubicBezTo>
                  <a:pt x="25" y="60681"/>
                  <a:pt x="3099" y="64796"/>
                  <a:pt x="7544" y="65431"/>
                </a:cubicBezTo>
                <a:cubicBezTo>
                  <a:pt x="11989" y="66066"/>
                  <a:pt x="16104" y="62967"/>
                  <a:pt x="16739" y="58547"/>
                </a:cubicBezTo>
                <a:cubicBezTo>
                  <a:pt x="20117" y="34900"/>
                  <a:pt x="40462" y="16739"/>
                  <a:pt x="65024" y="16739"/>
                </a:cubicBezTo>
                <a:cubicBezTo>
                  <a:pt x="76302" y="16739"/>
                  <a:pt x="86665" y="20549"/>
                  <a:pt x="94920" y="26975"/>
                </a:cubicBezTo>
                <a:lnTo>
                  <a:pt x="83058" y="38837"/>
                </a:lnTo>
                <a:cubicBezTo>
                  <a:pt x="81305" y="40590"/>
                  <a:pt x="80797" y="43206"/>
                  <a:pt x="81737" y="45492"/>
                </a:cubicBezTo>
                <a:cubicBezTo>
                  <a:pt x="82677" y="47778"/>
                  <a:pt x="84912" y="49251"/>
                  <a:pt x="87376" y="49251"/>
                </a:cubicBezTo>
                <a:lnTo>
                  <a:pt x="121945" y="49251"/>
                </a:lnTo>
                <a:close/>
                <a:moveTo>
                  <a:pt x="129413" y="74778"/>
                </a:moveTo>
                <a:cubicBezTo>
                  <a:pt x="130048" y="70333"/>
                  <a:pt x="126949" y="66218"/>
                  <a:pt x="122530" y="65583"/>
                </a:cubicBezTo>
                <a:cubicBezTo>
                  <a:pt x="118110" y="64948"/>
                  <a:pt x="113970" y="68047"/>
                  <a:pt x="113335" y="72467"/>
                </a:cubicBezTo>
                <a:cubicBezTo>
                  <a:pt x="109957" y="96089"/>
                  <a:pt x="89611" y="114250"/>
                  <a:pt x="65049" y="114250"/>
                </a:cubicBezTo>
                <a:cubicBezTo>
                  <a:pt x="53772" y="114250"/>
                  <a:pt x="43409" y="110440"/>
                  <a:pt x="35154" y="104013"/>
                </a:cubicBezTo>
                <a:lnTo>
                  <a:pt x="46990" y="92177"/>
                </a:lnTo>
                <a:cubicBezTo>
                  <a:pt x="48743" y="90424"/>
                  <a:pt x="49251" y="87808"/>
                  <a:pt x="48311" y="85522"/>
                </a:cubicBezTo>
                <a:cubicBezTo>
                  <a:pt x="47371" y="83236"/>
                  <a:pt x="45136" y="81763"/>
                  <a:pt x="42672" y="81763"/>
                </a:cubicBezTo>
                <a:lnTo>
                  <a:pt x="6096" y="81763"/>
                </a:lnTo>
                <a:cubicBezTo>
                  <a:pt x="2718" y="81763"/>
                  <a:pt x="0" y="84481"/>
                  <a:pt x="0" y="87859"/>
                </a:cubicBezTo>
                <a:lnTo>
                  <a:pt x="0" y="124435"/>
                </a:lnTo>
                <a:cubicBezTo>
                  <a:pt x="0" y="126899"/>
                  <a:pt x="1473" y="129134"/>
                  <a:pt x="3759" y="130074"/>
                </a:cubicBezTo>
                <a:cubicBezTo>
                  <a:pt x="6045" y="131014"/>
                  <a:pt x="8661" y="130480"/>
                  <a:pt x="10414" y="128753"/>
                </a:cubicBezTo>
                <a:lnTo>
                  <a:pt x="23571" y="115596"/>
                </a:lnTo>
                <a:cubicBezTo>
                  <a:pt x="34798" y="124918"/>
                  <a:pt x="49276" y="130531"/>
                  <a:pt x="65024" y="130531"/>
                </a:cubicBezTo>
                <a:cubicBezTo>
                  <a:pt x="97790" y="130531"/>
                  <a:pt x="124892" y="106299"/>
                  <a:pt x="129388" y="74778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8022" y="5267215"/>
            <a:ext cx="5165344" cy="3176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Adaptive Evolution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8350" y="5631815"/>
            <a:ext cx="5177536" cy="162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Reinforcement Learning</a:t>
            </a: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— auto-tune parameters for seasonal changes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05600" y="1431925"/>
            <a:ext cx="5226304" cy="227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Quantified Benefits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370066" y="1490980"/>
            <a:ext cx="162560" cy="142240"/>
          </a:xfrm>
          <a:custGeom>
            <a:avLst/>
            <a:gdLst/>
            <a:ahLst/>
            <a:cxnLst/>
            <a:rect r="r" b="b" t="t" l="l"/>
            <a:pathLst>
              <a:path h="142240" w="162560">
                <a:moveTo>
                  <a:pt x="20320" y="10160"/>
                </a:moveTo>
                <a:cubicBezTo>
                  <a:pt x="20320" y="4540"/>
                  <a:pt x="15780" y="0"/>
                  <a:pt x="10160" y="0"/>
                </a:cubicBezTo>
                <a:cubicBezTo>
                  <a:pt x="4540" y="0"/>
                  <a:pt x="0" y="4540"/>
                  <a:pt x="0" y="10160"/>
                </a:cubicBezTo>
                <a:lnTo>
                  <a:pt x="0" y="116840"/>
                </a:lnTo>
                <a:cubicBezTo>
                  <a:pt x="0" y="130874"/>
                  <a:pt x="11366" y="142240"/>
                  <a:pt x="25400" y="142240"/>
                </a:cubicBezTo>
                <a:lnTo>
                  <a:pt x="152400" y="142240"/>
                </a:lnTo>
                <a:cubicBezTo>
                  <a:pt x="158020" y="142240"/>
                  <a:pt x="162560" y="137700"/>
                  <a:pt x="162560" y="132080"/>
                </a:cubicBezTo>
                <a:cubicBezTo>
                  <a:pt x="162560" y="126460"/>
                  <a:pt x="158020" y="121920"/>
                  <a:pt x="152400" y="121920"/>
                </a:cubicBezTo>
                <a:lnTo>
                  <a:pt x="25400" y="121920"/>
                </a:lnTo>
                <a:cubicBezTo>
                  <a:pt x="22606" y="121920"/>
                  <a:pt x="20320" y="119634"/>
                  <a:pt x="20320" y="116840"/>
                </a:cubicBezTo>
                <a:lnTo>
                  <a:pt x="20320" y="10160"/>
                </a:lnTo>
                <a:close/>
                <a:moveTo>
                  <a:pt x="149416" y="37656"/>
                </a:moveTo>
                <a:cubicBezTo>
                  <a:pt x="153384" y="33687"/>
                  <a:pt x="153384" y="27241"/>
                  <a:pt x="149416" y="23273"/>
                </a:cubicBezTo>
                <a:cubicBezTo>
                  <a:pt x="145447" y="19304"/>
                  <a:pt x="139002" y="19304"/>
                  <a:pt x="135033" y="23273"/>
                </a:cubicBezTo>
                <a:lnTo>
                  <a:pt x="101600" y="56737"/>
                </a:lnTo>
                <a:lnTo>
                  <a:pt x="83376" y="38544"/>
                </a:lnTo>
                <a:cubicBezTo>
                  <a:pt x="79407" y="34576"/>
                  <a:pt x="72962" y="34576"/>
                  <a:pt x="68993" y="38544"/>
                </a:cubicBezTo>
                <a:lnTo>
                  <a:pt x="38513" y="69024"/>
                </a:lnTo>
                <a:cubicBezTo>
                  <a:pt x="34544" y="72993"/>
                  <a:pt x="34544" y="79438"/>
                  <a:pt x="38513" y="83407"/>
                </a:cubicBezTo>
                <a:cubicBezTo>
                  <a:pt x="42482" y="87376"/>
                  <a:pt x="48927" y="87376"/>
                  <a:pt x="52896" y="83407"/>
                </a:cubicBezTo>
                <a:lnTo>
                  <a:pt x="76200" y="60103"/>
                </a:lnTo>
                <a:lnTo>
                  <a:pt x="94424" y="78327"/>
                </a:lnTo>
                <a:cubicBezTo>
                  <a:pt x="98393" y="82296"/>
                  <a:pt x="104838" y="82296"/>
                  <a:pt x="108807" y="78327"/>
                </a:cubicBezTo>
                <a:lnTo>
                  <a:pt x="149447" y="37687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353810" y="1744980"/>
            <a:ext cx="5340096" cy="1006348"/>
          </a:xfrm>
          <a:custGeom>
            <a:avLst/>
            <a:gdLst/>
            <a:ahLst/>
            <a:cxnLst/>
            <a:rect r="r" b="b" t="t" l="l"/>
            <a:pathLst>
              <a:path h="1006348" w="5340096">
                <a:moveTo>
                  <a:pt x="65024" y="0"/>
                </a:moveTo>
                <a:lnTo>
                  <a:pt x="5275072" y="0"/>
                </a:lnTo>
                <a:cubicBezTo>
                  <a:pt x="5310984" y="0"/>
                  <a:pt x="5340096" y="27101"/>
                  <a:pt x="5340096" y="60532"/>
                </a:cubicBezTo>
                <a:lnTo>
                  <a:pt x="5340096" y="945816"/>
                </a:lnTo>
                <a:cubicBezTo>
                  <a:pt x="5340096" y="979247"/>
                  <a:pt x="5310984" y="1006348"/>
                  <a:pt x="5275072" y="1006348"/>
                </a:cubicBezTo>
                <a:lnTo>
                  <a:pt x="65024" y="1006348"/>
                </a:lnTo>
                <a:cubicBezTo>
                  <a:pt x="29112" y="1006348"/>
                  <a:pt x="0" y="979247"/>
                  <a:pt x="0" y="945816"/>
                </a:cubicBezTo>
                <a:lnTo>
                  <a:pt x="0" y="60532"/>
                </a:lnTo>
                <a:cubicBezTo>
                  <a:pt x="0" y="27101"/>
                  <a:pt x="29112" y="0"/>
                  <a:pt x="6502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55410" y="1804416"/>
            <a:ext cx="5136896" cy="1950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Revenue Uplift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90386" y="2032000"/>
            <a:ext cx="5266944" cy="3901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31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15-25%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59474" y="2454656"/>
            <a:ext cx="5128768" cy="162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vs. static rule-based systems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6353810" y="2856992"/>
            <a:ext cx="5340096" cy="983488"/>
          </a:xfrm>
          <a:custGeom>
            <a:avLst/>
            <a:gdLst/>
            <a:ahLst/>
            <a:cxnLst/>
            <a:rect r="r" b="b" t="t" l="l"/>
            <a:pathLst>
              <a:path h="983488" w="5340096">
                <a:moveTo>
                  <a:pt x="65028" y="0"/>
                </a:moveTo>
                <a:lnTo>
                  <a:pt x="5275068" y="0"/>
                </a:lnTo>
                <a:cubicBezTo>
                  <a:pt x="5310983" y="0"/>
                  <a:pt x="5340096" y="29113"/>
                  <a:pt x="5340096" y="65028"/>
                </a:cubicBezTo>
                <a:lnTo>
                  <a:pt x="5340096" y="918460"/>
                </a:lnTo>
                <a:cubicBezTo>
                  <a:pt x="5340096" y="954375"/>
                  <a:pt x="5310983" y="983488"/>
                  <a:pt x="5275068" y="983488"/>
                </a:cubicBezTo>
                <a:lnTo>
                  <a:pt x="65028" y="983488"/>
                </a:lnTo>
                <a:cubicBezTo>
                  <a:pt x="29138" y="983488"/>
                  <a:pt x="0" y="954350"/>
                  <a:pt x="0" y="918460"/>
                </a:cubicBezTo>
                <a:lnTo>
                  <a:pt x="0" y="65028"/>
                </a:lnTo>
                <a:cubicBezTo>
                  <a:pt x="0" y="29138"/>
                  <a:pt x="29138" y="0"/>
                  <a:pt x="65028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55410" y="2991104"/>
            <a:ext cx="5136896" cy="1950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Strategy Update Frequency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623174" y="3209925"/>
            <a:ext cx="75590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5-Min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59474" y="3543808"/>
            <a:ext cx="5128768" cy="162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Real-time market adaptation</a:t>
            </a:r>
            <a:endParaRPr lang="en-US" sz="1100"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6353810" y="3946144"/>
            <a:ext cx="5340096" cy="1081024"/>
          </a:xfrm>
          <a:custGeom>
            <a:avLst/>
            <a:gdLst/>
            <a:ahLst/>
            <a:cxnLst/>
            <a:rect r="r" b="b" t="t" l="l"/>
            <a:pathLst>
              <a:path h="1081024" w="5340096">
                <a:moveTo>
                  <a:pt x="65024" y="0"/>
                </a:moveTo>
                <a:lnTo>
                  <a:pt x="5275072" y="0"/>
                </a:lnTo>
                <a:cubicBezTo>
                  <a:pt x="5310984" y="0"/>
                  <a:pt x="5340096" y="29112"/>
                  <a:pt x="5340096" y="65024"/>
                </a:cubicBezTo>
                <a:lnTo>
                  <a:pt x="5340096" y="1016000"/>
                </a:lnTo>
                <a:cubicBezTo>
                  <a:pt x="5340096" y="1051912"/>
                  <a:pt x="5310984" y="1081024"/>
                  <a:pt x="5275072" y="1081024"/>
                </a:cubicBezTo>
                <a:lnTo>
                  <a:pt x="65024" y="1081024"/>
                </a:lnTo>
                <a:cubicBezTo>
                  <a:pt x="29112" y="1081024"/>
                  <a:pt x="0" y="1051912"/>
                  <a:pt x="0" y="1016000"/>
                </a:cubicBezTo>
                <a:lnTo>
                  <a:pt x="0" y="65024"/>
                </a:lnTo>
                <a:cubicBezTo>
                  <a:pt x="0" y="29112"/>
                  <a:pt x="29112" y="0"/>
                  <a:pt x="65024" y="0"/>
                </a:cubicBezTo>
                <a:close/>
              </a:path>
            </a:pathLst>
          </a:custGeom>
          <a:solidFill>
            <a:srgbClr val="0A0E17">
              <a:alpha val="6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55410" y="4080256"/>
            <a:ext cx="5136896" cy="1950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Risk Interception Rate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390386" y="4307840"/>
            <a:ext cx="5266944" cy="3901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31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459474" y="4730496"/>
            <a:ext cx="5128768" cy="162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Auto-identify anomalous instructions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6181725" y="5385943"/>
            <a:ext cx="5681472" cy="1086295"/>
          </a:xfrm>
          <a:custGeom>
            <a:avLst/>
            <a:gdLst/>
            <a:ahLst/>
            <a:cxnLst/>
            <a:rect r="r" b="b" t="t" l="l"/>
            <a:pathLst>
              <a:path h="1086295" w="5681472">
                <a:moveTo>
                  <a:pt x="97533" y="0"/>
                </a:moveTo>
                <a:lnTo>
                  <a:pt x="5583939" y="0"/>
                </a:lnTo>
                <a:cubicBezTo>
                  <a:pt x="5637806" y="0"/>
                  <a:pt x="5681472" y="48231"/>
                  <a:pt x="5681472" y="107729"/>
                </a:cubicBezTo>
                <a:lnTo>
                  <a:pt x="5681472" y="978566"/>
                </a:lnTo>
                <a:cubicBezTo>
                  <a:pt x="5681472" y="1038064"/>
                  <a:pt x="5637806" y="1086295"/>
                  <a:pt x="5583939" y="1086295"/>
                </a:cubicBezTo>
                <a:lnTo>
                  <a:pt x="97533" y="1086295"/>
                </a:lnTo>
                <a:cubicBezTo>
                  <a:pt x="43666" y="1086295"/>
                  <a:pt x="0" y="1038064"/>
                  <a:pt x="0" y="978566"/>
                </a:cubicBezTo>
                <a:lnTo>
                  <a:pt x="0" y="107729"/>
                </a:lnTo>
                <a:cubicBezTo>
                  <a:pt x="0" y="48272"/>
                  <a:pt x="43703" y="0"/>
                  <a:pt x="9753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6338697" y="5553774"/>
            <a:ext cx="157480" cy="162560"/>
          </a:xfrm>
          <a:custGeom>
            <a:avLst/>
            <a:gdLst/>
            <a:ahLst/>
            <a:cxnLst/>
            <a:rect r="r" b="b" t="t" l="l"/>
            <a:pathLst>
              <a:path h="162560" w="157480">
                <a:moveTo>
                  <a:pt x="35560" y="17780"/>
                </a:moveTo>
                <a:cubicBezTo>
                  <a:pt x="35560" y="7969"/>
                  <a:pt x="43529" y="0"/>
                  <a:pt x="53340" y="0"/>
                </a:cubicBezTo>
                <a:lnTo>
                  <a:pt x="60960" y="0"/>
                </a:lnTo>
                <a:cubicBezTo>
                  <a:pt x="66580" y="0"/>
                  <a:pt x="71120" y="4540"/>
                  <a:pt x="71120" y="10160"/>
                </a:cubicBezTo>
                <a:lnTo>
                  <a:pt x="71120" y="152400"/>
                </a:lnTo>
                <a:cubicBezTo>
                  <a:pt x="71120" y="158020"/>
                  <a:pt x="66580" y="162560"/>
                  <a:pt x="60960" y="162560"/>
                </a:cubicBezTo>
                <a:lnTo>
                  <a:pt x="50800" y="162560"/>
                </a:lnTo>
                <a:cubicBezTo>
                  <a:pt x="41339" y="162560"/>
                  <a:pt x="33369" y="156083"/>
                  <a:pt x="31115" y="147320"/>
                </a:cubicBezTo>
                <a:cubicBezTo>
                  <a:pt x="30893" y="147320"/>
                  <a:pt x="30702" y="147320"/>
                  <a:pt x="30480" y="147320"/>
                </a:cubicBezTo>
                <a:cubicBezTo>
                  <a:pt x="16447" y="147320"/>
                  <a:pt x="5080" y="135954"/>
                  <a:pt x="5080" y="121920"/>
                </a:cubicBezTo>
                <a:cubicBezTo>
                  <a:pt x="5080" y="116205"/>
                  <a:pt x="6985" y="110935"/>
                  <a:pt x="10160" y="106680"/>
                </a:cubicBezTo>
                <a:cubicBezTo>
                  <a:pt x="4001" y="102045"/>
                  <a:pt x="0" y="94679"/>
                  <a:pt x="0" y="86360"/>
                </a:cubicBezTo>
                <a:cubicBezTo>
                  <a:pt x="0" y="76549"/>
                  <a:pt x="5588" y="68009"/>
                  <a:pt x="13716" y="63786"/>
                </a:cubicBezTo>
                <a:cubicBezTo>
                  <a:pt x="11462" y="59976"/>
                  <a:pt x="10160" y="55531"/>
                  <a:pt x="10160" y="50800"/>
                </a:cubicBezTo>
                <a:cubicBezTo>
                  <a:pt x="10160" y="36767"/>
                  <a:pt x="21527" y="25400"/>
                  <a:pt x="35560" y="25400"/>
                </a:cubicBezTo>
                <a:lnTo>
                  <a:pt x="35560" y="17780"/>
                </a:lnTo>
                <a:close/>
                <a:moveTo>
                  <a:pt x="121920" y="17780"/>
                </a:moveTo>
                <a:lnTo>
                  <a:pt x="121920" y="25400"/>
                </a:lnTo>
                <a:cubicBezTo>
                  <a:pt x="135954" y="25400"/>
                  <a:pt x="147320" y="36767"/>
                  <a:pt x="147320" y="50800"/>
                </a:cubicBezTo>
                <a:cubicBezTo>
                  <a:pt x="147320" y="55563"/>
                  <a:pt x="146018" y="60008"/>
                  <a:pt x="143764" y="63786"/>
                </a:cubicBezTo>
                <a:cubicBezTo>
                  <a:pt x="151924" y="68009"/>
                  <a:pt x="157480" y="76518"/>
                  <a:pt x="157480" y="86360"/>
                </a:cubicBezTo>
                <a:cubicBezTo>
                  <a:pt x="157480" y="94679"/>
                  <a:pt x="153480" y="102045"/>
                  <a:pt x="147320" y="106680"/>
                </a:cubicBezTo>
                <a:cubicBezTo>
                  <a:pt x="150495" y="110935"/>
                  <a:pt x="152400" y="116205"/>
                  <a:pt x="152400" y="121920"/>
                </a:cubicBezTo>
                <a:cubicBezTo>
                  <a:pt x="152400" y="135954"/>
                  <a:pt x="141034" y="147320"/>
                  <a:pt x="127000" y="147320"/>
                </a:cubicBezTo>
                <a:cubicBezTo>
                  <a:pt x="126778" y="147320"/>
                  <a:pt x="126587" y="147320"/>
                  <a:pt x="126365" y="147320"/>
                </a:cubicBezTo>
                <a:cubicBezTo>
                  <a:pt x="124111" y="156083"/>
                  <a:pt x="116142" y="162560"/>
                  <a:pt x="106680" y="162560"/>
                </a:cubicBezTo>
                <a:lnTo>
                  <a:pt x="96520" y="162560"/>
                </a:lnTo>
                <a:cubicBezTo>
                  <a:pt x="90900" y="162560"/>
                  <a:pt x="86360" y="158020"/>
                  <a:pt x="86360" y="152400"/>
                </a:cubicBezTo>
                <a:lnTo>
                  <a:pt x="86360" y="10160"/>
                </a:lnTo>
                <a:cubicBezTo>
                  <a:pt x="86360" y="4540"/>
                  <a:pt x="90900" y="0"/>
                  <a:pt x="96520" y="0"/>
                </a:cubicBezTo>
                <a:lnTo>
                  <a:pt x="104140" y="0"/>
                </a:lnTo>
                <a:cubicBezTo>
                  <a:pt x="113951" y="0"/>
                  <a:pt x="121920" y="7969"/>
                  <a:pt x="121920" y="17780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616573" y="5521262"/>
            <a:ext cx="1584325" cy="1950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0F9FF"/>
                </a:solidFill>
                <a:latin typeface="MiSans"/>
                <a:ea typeface="MiSans"/>
                <a:cs typeface="MiSans"/>
                <a:sym typeface="MiSans"/>
              </a:rPr>
              <a:t>AI Empowerment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920486" y="5895975"/>
            <a:ext cx="5942711" cy="3901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indent="0" lvl="1" marL="45720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Manta's AI engine delivers </a:t>
            </a:r>
            <a:r>
              <a:rPr lang="en-US" b="true" i="false" strike="noStrike" u="none" sz="1200">
                <a:solidFill>
                  <a:srgbClr val="10B981"/>
                </a:solidFill>
                <a:latin typeface="MiSans"/>
                <a:ea typeface="MiSans"/>
                <a:cs typeface="MiSans"/>
                <a:sym typeface="MiSans"/>
              </a:rPr>
              <a:t>"intelligence"</a:t>
            </a:r>
            <a:r>
              <a:rPr lang="en-US" b="false" i="false" strike="noStrike" u="none" sz="1200">
                <a:solidFill>
                  <a:srgbClr val="94A3B8"/>
                </a:solidFill>
                <a:latin typeface="MiSans"/>
                <a:ea typeface="MiSans"/>
                <a:cs typeface="MiSans"/>
                <a:sym typeface="MiSans"/>
              </a:rPr>
              <a:t> — continuous learning, self-evolution, dynamic adaptation. The system gets smarter and more profitable over time.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
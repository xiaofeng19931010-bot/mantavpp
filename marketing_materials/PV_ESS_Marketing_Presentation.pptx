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3F3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0"/>
            <a:ext cx="7772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2E9F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PV ESS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457200" y="3200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Intelligent Distributed Energy Storage Management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41148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Manta VPP Platform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E9F58"/>
                </a:solidFill>
              </a:rPr>
              <a:t>Agenda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914400" y="1371600"/>
            <a:ext cx="73152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4000"/>
              </a:lnSpc>
              <a:buSzPct val="100000"/>
              <a:buChar char="•"/>
            </a:pPr>
            <a:r>
              <a:rPr lang="en-US" sz="2000" dirty="0">
                <a:solidFill>
                  <a:srgbClr val="313949"/>
                </a:solidFill>
              </a:rPr>
              <a:t>1. Market Challenge</a:t>
            </a:r>
            <a:endParaRPr lang="en-US" sz="2000" dirty="0"/>
          </a:p>
          <a:p>
            <a:pPr indent="0" marL="0">
              <a:lnSpc>
                <a:spcPts val="4000"/>
              </a:lnSpc>
              <a:buNone/>
            </a:pPr>
            <a:r>
              <a:rPr lang="en-US" sz="2000" dirty="0">
                <a:solidFill>
                  <a:srgbClr val="313949"/>
                </a:solidFill>
              </a:rPr>
              <a:t>2. Manta PV ESS Solution</a:t>
            </a:r>
            <a:endParaRPr lang="en-US" sz="2000" dirty="0"/>
          </a:p>
          <a:p>
            <a:pPr indent="0" marL="0">
              <a:lnSpc>
                <a:spcPts val="4000"/>
              </a:lnSpc>
              <a:buNone/>
            </a:pPr>
            <a:r>
              <a:rPr lang="en-US" sz="2000" dirty="0">
                <a:solidFill>
                  <a:srgbClr val="313949"/>
                </a:solidFill>
              </a:rPr>
              <a:t>3. Key Features &amp; Capabilities</a:t>
            </a:r>
            <a:endParaRPr lang="en-US" sz="2000" dirty="0"/>
          </a:p>
          <a:p>
            <a:pPr indent="0" marL="0">
              <a:lnSpc>
                <a:spcPts val="4000"/>
              </a:lnSpc>
              <a:buNone/>
            </a:pPr>
            <a:r>
              <a:rPr lang="en-US" sz="2000" dirty="0">
                <a:solidFill>
                  <a:srgbClr val="313949"/>
                </a:solidFill>
              </a:rPr>
              <a:t>4. Technical Architecture</a:t>
            </a:r>
            <a:endParaRPr lang="en-US" sz="2000" dirty="0"/>
          </a:p>
          <a:p>
            <a:pPr indent="0" marL="0">
              <a:lnSpc>
                <a:spcPts val="4000"/>
              </a:lnSpc>
              <a:buNone/>
            </a:pPr>
            <a:r>
              <a:rPr lang="en-US" sz="2000" dirty="0">
                <a:solidFill>
                  <a:srgbClr val="313949"/>
                </a:solidFill>
              </a:rPr>
              <a:t>5. Business Value &amp; ROI</a:t>
            </a:r>
            <a:endParaRPr lang="en-US" sz="2000" dirty="0"/>
          </a:p>
          <a:p>
            <a:pPr indent="0" marL="0">
              <a:lnSpc>
                <a:spcPts val="4000"/>
              </a:lnSpc>
              <a:buNone/>
            </a:pPr>
            <a:r>
              <a:rPr lang="en-US" sz="2000" dirty="0">
                <a:solidFill>
                  <a:srgbClr val="313949"/>
                </a:solidFill>
              </a:rPr>
              <a:t>6. Future Roadmap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E9F58"/>
                </a:solidFill>
              </a:rPr>
              <a:t>The Challenge: Fragmented Energy Assets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4748B"/>
                </a:solidFill>
              </a:rPr>
              <a:t>As distributed energy resources (DERs) grow, grid operators face: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57200" y="2286000"/>
            <a:ext cx="256032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23774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9F58"/>
                </a:solidFill>
              </a:rPr>
              <a:t>Visibility Gap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2743200"/>
            <a:ext cx="23774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Unable to see real-time status of thousands of small batteries.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291840" y="2286000"/>
            <a:ext cx="256032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83280" y="23774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9F58"/>
                </a:solidFill>
              </a:rPr>
              <a:t>Control Complexity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383280" y="2743200"/>
            <a:ext cx="23774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Difficult to coordinate charging/discharging for VPP events.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126480" y="2286000"/>
            <a:ext cx="256032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17920" y="23774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9F58"/>
                </a:solidFill>
              </a:rPr>
              <a:t>Data Silos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217920" y="2743200"/>
            <a:ext cx="23774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Disparate protocols from different manufacturers (Tesla, Sungrow, BYD).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E9F58"/>
                </a:solidFill>
              </a:rPr>
              <a:t>The Solution: Manta PV ESS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4748B"/>
                </a:solidFill>
              </a:rPr>
              <a:t>A unified management layer connecting assets to the market.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1828800" y="2286000"/>
            <a:ext cx="5486400" cy="274320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2E9F5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0" y="3200400"/>
            <a:ext cx="4572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E9F58"/>
                </a:solidFill>
              </a:rPr>
              <a:t>PV ESS Core Module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2286000" y="3840480"/>
            <a:ext cx="4572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4748B"/>
                </a:solidFill>
              </a:rPr>
              <a:t>Monitor • Analyze • Optimize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E9F58"/>
                </a:solidFill>
              </a:rPr>
              <a:t>Real-time Fleet Monitoring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45720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13949"/>
                </a:solidFill>
              </a:rPr>
              <a:t>Instant visibility into fleet health: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13949"/>
                </a:solidFill>
              </a:rPr>
              <a:t>Online / Offline / Disconnected status tracking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13949"/>
                </a:solidFill>
              </a:rPr>
              <a:t>Aggregated Rated Power &amp; Capacity metrics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13949"/>
                </a:solidFill>
              </a:rPr>
              <a:t>Global search by SN, NMI, or VPP Name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0" y="1371600"/>
            <a:ext cx="5486400" cy="3657600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0" y="3200400"/>
            <a:ext cx="5486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dirty="0">
                <a:solidFill>
                  <a:srgbClr val="999999"/>
                </a:solidFill>
              </a:rPr>
              <a:t>[Dashboard Screenshot Placeholder]</a:t>
            </a:r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E9F58"/>
                </a:solidFill>
              </a:rPr>
              <a:t>Deep Dive: Energy Topology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4748B"/>
                </a:solidFill>
              </a:rPr>
              <a:t>Visualize energy flow from PV to Grid.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1645920"/>
            <a:ext cx="45720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13949"/>
                </a:solidFill>
              </a:rPr>
              <a:t>Dynamic animation of DC/AC flows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13949"/>
                </a:solidFill>
              </a:rPr>
              <a:t>Visualizes PV generation, Battery charging/discharging, and Inverter conversion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13949"/>
                </a:solidFill>
              </a:rPr>
              <a:t>Crucial for O&amp;M diagnosis and efficiency analysis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0" y="1645920"/>
            <a:ext cx="5486400" cy="3200400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0" y="3200400"/>
            <a:ext cx="5486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dirty="0">
                <a:solidFill>
                  <a:srgbClr val="999999"/>
                </a:solidFill>
              </a:rPr>
              <a:t>[Topology Diagram Placeholder]</a:t>
            </a:r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E9F58"/>
                </a:solidFill>
              </a:rPr>
              <a:t>Empowering Key Stakeholders</a:t>
            </a:r>
            <a:endParaRPr lang="en-US" sz="3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Role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9F5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Pain Point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9F5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PV ESS Benefit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9F5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Asset Manager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Unknown device faults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Instant alerts on connection loss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O&amp;M Engineer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Complex remote diagnosis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Visual topology of energy flows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Energy Trader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Uncertain capacity availability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Real-time aggregated SOC data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E9F58"/>
                </a:solidFill>
              </a:rPr>
              <a:t>Technical Architecture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13949"/>
                </a:solidFill>
              </a:rPr>
              <a:t>Frontend: Modern Web (React/Vanilla JS)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13949"/>
                </a:solidFill>
              </a:rPr>
              <a:t>Performance: Handles 10,000+ devices with sub-second rendering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13949"/>
                </a:solidFill>
              </a:rPr>
              <a:t>Compatibility: Responsive design for Desktop, Tablet, and Mobile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13949"/>
                </a:solidFill>
              </a:rPr>
              <a:t>Security: Role-based access control (RBAC) and data masking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E9F58"/>
                </a:solidFill>
              </a:rPr>
              <a:t>Business Value &amp; ROI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3657600" cy="3657600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6459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9F58"/>
                </a:solidFill>
              </a:rPr>
              <a:t>Operational Efficiency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40080" y="2286000"/>
            <a:ext cx="3200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Reduce truck rolls by 30% via remote diagnosis.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0" y="1371600"/>
            <a:ext cx="3657600" cy="3657600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7" name="Text 5"/>
          <p:cNvSpPr/>
          <p:nvPr/>
        </p:nvSpPr>
        <p:spPr>
          <a:xfrm>
            <a:off x="4754880" y="16459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9F58"/>
                </a:solidFill>
              </a:rPr>
              <a:t>Revenue Maximization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754880" y="2286000"/>
            <a:ext cx="3200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Improve VPP trading yield by 15% with accurate SOC data.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E9F58"/>
                </a:solidFill>
              </a:rPr>
              <a:t>Product Roadmap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914400" y="2743200"/>
            <a:ext cx="7315200" cy="0"/>
          </a:xfrm>
          <a:prstGeom prst="line">
            <a:avLst/>
          </a:prstGeom>
          <a:noFill/>
          <a:ln w="38100">
            <a:solidFill>
              <a:srgbClr val="2E9F5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22860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</a:rPr>
              <a:t>Q1 2026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29260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Basic Monitoring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200400" y="22860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</a:rPr>
              <a:t>Q2 2026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200400" y="29260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Topology &amp; VPP V1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0" y="22860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</a:rPr>
              <a:t>Q3 2026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486400" y="29260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AI Forecasting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772400" y="22860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</a:rPr>
              <a:t>Q4 2026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772400" y="29260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Auto-Trading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E9F58"/>
                </a:solidFill>
              </a:rPr>
              <a:t>Our Team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4748B"/>
                </a:solidFill>
              </a:rPr>
              <a:t>Experts in Energy, AI, and Software Engineering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99999"/>
                </a:solidFill>
              </a:rPr>
              <a:t>[Team Photos Placeholder]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E9F5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0" y="182880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</a:rPr>
              <a:t>Thank You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2743200" y="27432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</a:rPr>
              <a:t>Contact us for a demo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2743200" y="32004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</a:rPr>
              <a:t>info@mantaweb.com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2026-02-04T19:44:04Z</dcterms:created>
  <dcterms:modified xsi:type="dcterms:W3CDTF">2026-02-04T19:44:04Z</dcterms:modified>
</cp:coreProperties>
</file>